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5" r:id="rId6"/>
    <p:sldId id="260" r:id="rId7"/>
    <p:sldId id="261" r:id="rId8"/>
    <p:sldId id="262" r:id="rId9"/>
    <p:sldId id="263" r:id="rId10"/>
    <p:sldId id="264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126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18380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76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645920"/>
            <a:ext cx="5029200" cy="5029200"/>
          </a:xfrm>
          <a:prstGeom prst="ellipse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7772400" y="3200400"/>
            <a:ext cx="2743200" cy="2743200"/>
          </a:xfrm>
          <a:prstGeom prst="ellipse">
            <a:avLst/>
          </a:prstGeom>
          <a:solidFill>
            <a:srgbClr val="14B8A6">
              <a:alpha val="28000"/>
            </a:srgbClr>
          </a:solidFill>
          <a:ln w="12700">
            <a:solidFill>
              <a:srgbClr val="14B8A6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-731520" y="4572000"/>
            <a:ext cx="2286000" cy="2286000"/>
          </a:xfrm>
          <a:prstGeom prst="ellipse">
            <a:avLst/>
          </a:prstGeom>
          <a:solidFill>
            <a:srgbClr val="14B8A6">
              <a:alpha val="22000"/>
            </a:srgbClr>
          </a:solidFill>
          <a:ln w="12700">
            <a:solidFill>
              <a:srgbClr val="14B8A6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548640" y="384048"/>
            <a:ext cx="777240" cy="7772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48640" y="38404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🐾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438912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Clinique Vétérinaire — Dr. Pelois &amp; Dr. Maquinay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50876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kern="0" spc="10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AMIVET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" y="1965960"/>
            <a:ext cx="502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</a:t>
            </a:r>
            <a:endParaRPr lang="en-US" sz="8000" dirty="0"/>
          </a:p>
        </p:txBody>
      </p:sp>
      <p:sp>
        <p:nvSpPr>
          <p:cNvPr id="10" name="Shape 8"/>
          <p:cNvSpPr/>
          <p:nvPr/>
        </p:nvSpPr>
        <p:spPr>
          <a:xfrm>
            <a:off x="3246120" y="2565102"/>
            <a:ext cx="658368" cy="384048"/>
          </a:xfrm>
          <a:prstGeom prst="roundRect">
            <a:avLst>
              <a:gd name="adj" fmla="val 19048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246120" y="2565102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48640" y="3273552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RH complete pour votre clinique veterinaire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548640" y="3913632"/>
            <a:ext cx="1737360" cy="420624"/>
          </a:xfrm>
          <a:prstGeom prst="roundRect">
            <a:avLst>
              <a:gd name="adj" fmla="val 30435"/>
            </a:avLst>
          </a:prstGeom>
          <a:solidFill>
            <a:srgbClr val="14B8A6">
              <a:alpha val="50000"/>
            </a:srgbClr>
          </a:solidFill>
          <a:ln w="12700">
            <a:solidFill>
              <a:srgbClr val="14B8A6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548640" y="391363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modules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468880" y="3913632"/>
            <a:ext cx="1737360" cy="420624"/>
          </a:xfrm>
          <a:prstGeom prst="roundRect">
            <a:avLst>
              <a:gd name="adj" fmla="val 30435"/>
            </a:avLst>
          </a:prstGeom>
          <a:solidFill>
            <a:srgbClr val="14B8A6">
              <a:alpha val="50000"/>
            </a:srgbClr>
          </a:solidFill>
          <a:ln w="12700">
            <a:solidFill>
              <a:srgbClr val="14B8A6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2468880" y="391363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100 % cloud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89120" y="3913632"/>
            <a:ext cx="1737360" cy="420624"/>
          </a:xfrm>
          <a:prstGeom prst="roundRect">
            <a:avLst>
              <a:gd name="adj" fmla="val 30435"/>
            </a:avLst>
          </a:prstGeom>
          <a:solidFill>
            <a:srgbClr val="14B8A6">
              <a:alpha val="50000"/>
            </a:srgbClr>
          </a:solidFill>
          <a:ln w="12700">
            <a:solidFill>
              <a:srgbClr val="14B8A6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4389120" y="391363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Multi-appareils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863840" y="449884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100" dirty="0"/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A6468DC3-82A6-C405-A96B-4836C297F8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1" y="293369"/>
            <a:ext cx="683552" cy="73029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d'ensemble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68096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espaces · 12 fonctionnalites · 1 seule application web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47472" y="1207008"/>
            <a:ext cx="2715768" cy="4800600"/>
          </a:xfrm>
          <a:prstGeom prst="roundRect">
            <a:avLst>
              <a:gd name="adj" fmla="val 6734"/>
            </a:avLst>
          </a:prstGeom>
          <a:solidFill>
            <a:srgbClr val="FFFFFF"/>
          </a:solidFill>
          <a:ln w="25400">
            <a:solidFill>
              <a:srgbClr val="0F766E"/>
            </a:solidFill>
            <a:prstDash val="solid"/>
          </a:ln>
          <a:effectLst>
            <a:outerShdw blurRad="635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347472" y="1207008"/>
            <a:ext cx="2715768" cy="868680"/>
          </a:xfrm>
          <a:prstGeom prst="roundRect">
            <a:avLst>
              <a:gd name="adj" fmla="val 21053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47472" y="1847088"/>
            <a:ext cx="2715768" cy="24688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57200" y="1225296"/>
            <a:ext cx="6583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🩺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33856" y="1225296"/>
            <a:ext cx="183794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Veterinaires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85216" y="2450592"/>
            <a:ext cx="100584" cy="1005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758952" y="2331720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Calendrier mensuel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85216" y="3044952"/>
            <a:ext cx="100584" cy="1005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758952" y="2926080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annuelle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85216" y="3639312"/>
            <a:ext cx="100584" cy="1005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758952" y="3520440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Previsionnel N+1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27832" y="1207008"/>
            <a:ext cx="2715768" cy="4800600"/>
          </a:xfrm>
          <a:prstGeom prst="roundRect">
            <a:avLst>
              <a:gd name="adj" fmla="val 6734"/>
            </a:avLst>
          </a:prstGeom>
          <a:solidFill>
            <a:srgbClr val="FFFFFF"/>
          </a:solidFill>
          <a:ln w="25400">
            <a:solidFill>
              <a:srgbClr val="0369A1"/>
            </a:solidFill>
            <a:prstDash val="solid"/>
          </a:ln>
          <a:effectLst>
            <a:outerShdw blurRad="635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3227832" y="1207008"/>
            <a:ext cx="2715768" cy="868680"/>
          </a:xfrm>
          <a:prstGeom prst="roundRect">
            <a:avLst>
              <a:gd name="adj" fmla="val 21053"/>
            </a:avLst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3227832" y="1847088"/>
            <a:ext cx="2715768" cy="24688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3337560" y="1225296"/>
            <a:ext cx="6583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🐾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014216" y="1225296"/>
            <a:ext cx="183794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ASV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355848" y="2295144"/>
            <a:ext cx="2459736" cy="475488"/>
          </a:xfrm>
          <a:prstGeom prst="roundRect">
            <a:avLst>
              <a:gd name="adj" fmla="val 19231"/>
            </a:avLst>
          </a:prstGeom>
          <a:solidFill>
            <a:srgbClr val="DBEAFE"/>
          </a:solidFill>
          <a:ln w="1905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3465576" y="2450592"/>
            <a:ext cx="100584" cy="100584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3639312" y="2331720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hebdomadaire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230368" y="2423160"/>
            <a:ext cx="566928" cy="256032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5230368" y="242316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NOUVEAU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465576" y="3044952"/>
            <a:ext cx="100584" cy="1005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3639312" y="2926080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Calendrier mensuel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465576" y="3639312"/>
            <a:ext cx="100584" cy="1005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3639312" y="3520440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annuelle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465576" y="4233672"/>
            <a:ext cx="100584" cy="1005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3639312" y="4114800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Previsionnel N+1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108192" y="1207008"/>
            <a:ext cx="2715768" cy="4800600"/>
          </a:xfrm>
          <a:prstGeom prst="roundRect">
            <a:avLst>
              <a:gd name="adj" fmla="val 6734"/>
            </a:avLst>
          </a:prstGeom>
          <a:solidFill>
            <a:srgbClr val="FFFFFF"/>
          </a:solidFill>
          <a:ln w="25400">
            <a:solidFill>
              <a:srgbClr val="6D28D9"/>
            </a:solidFill>
            <a:prstDash val="solid"/>
          </a:ln>
          <a:effectLst>
            <a:outerShdw blurRad="635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6108192" y="1207008"/>
            <a:ext cx="2715768" cy="868680"/>
          </a:xfrm>
          <a:prstGeom prst="roundRect">
            <a:avLst>
              <a:gd name="adj" fmla="val 21053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6108192" y="1847088"/>
            <a:ext cx="2715768" cy="24688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6217920" y="1225296"/>
            <a:ext cx="6583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894576" y="1225296"/>
            <a:ext cx="183794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6345936" y="2450592"/>
            <a:ext cx="100584" cy="1005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6519672" y="2331720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veterinaires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345936" y="3044952"/>
            <a:ext cx="100584" cy="1005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6519672" y="2926080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ASV 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345936" y="3639312"/>
            <a:ext cx="100584" cy="1005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6519672" y="3520440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Demandes de conge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345936" y="4233672"/>
            <a:ext cx="100584" cy="1005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6519672" y="4114800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Feuilles signees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236208" y="4672584"/>
            <a:ext cx="2459736" cy="475488"/>
          </a:xfrm>
          <a:prstGeom prst="roundRect">
            <a:avLst>
              <a:gd name="adj" fmla="val 19231"/>
            </a:avLst>
          </a:prstGeom>
          <a:solidFill>
            <a:srgbClr val="EDE9FE"/>
          </a:solidFill>
          <a:ln w="1905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Shape 43"/>
          <p:cNvSpPr/>
          <p:nvPr/>
        </p:nvSpPr>
        <p:spPr>
          <a:xfrm>
            <a:off x="6345936" y="4828032"/>
            <a:ext cx="100584" cy="100584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6" name="Text 44"/>
          <p:cNvSpPr/>
          <p:nvPr/>
        </p:nvSpPr>
        <p:spPr>
          <a:xfrm>
            <a:off x="6519672" y="4709160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Entretiens annuels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8110728" y="4800600"/>
            <a:ext cx="566928" cy="256032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Text 46"/>
          <p:cNvSpPr/>
          <p:nvPr/>
        </p:nvSpPr>
        <p:spPr>
          <a:xfrm>
            <a:off x="8110728" y="480060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NOUVEAU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Calendrier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Mensuel</a:t>
            </a: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901952"/>
            <a:ext cx="45720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347472" y="2157984"/>
            <a:ext cx="201168" cy="20116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 / Absence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35915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clic pour basculer le statut du jour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7472" y="2907792"/>
            <a:ext cx="201168" cy="20116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640080" y="28529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Motifs d'absence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1089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Conges, maladie, formation, recuperation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7472" y="3657600"/>
            <a:ext cx="201168" cy="20116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640080" y="360273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 droit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8587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Saisie rapide du motif par menu contextuel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47472" y="4407408"/>
            <a:ext cx="201168" cy="20116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640080" y="43525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par personne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460857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Veterinaires et ASV separes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47472" y="5157216"/>
            <a:ext cx="201168" cy="20116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640080" y="510235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mois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535838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Fleches precedent / suivant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47472" y="5907024"/>
            <a:ext cx="201168" cy="20116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640080" y="58521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Verrouillage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61081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 signe = lecture seule pour l'ASV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297680" y="4572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Juin 2026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4343400" y="1051560"/>
            <a:ext cx="667512" cy="34747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4343400" y="1051560"/>
            <a:ext cx="667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56632" y="1051560"/>
            <a:ext cx="667512" cy="34747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5056632" y="1051560"/>
            <a:ext cx="667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769864" y="1051560"/>
            <a:ext cx="667512" cy="34747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5769864" y="1051560"/>
            <a:ext cx="667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83096" y="1051560"/>
            <a:ext cx="667512" cy="34747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6483096" y="1051560"/>
            <a:ext cx="667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196328" y="1051560"/>
            <a:ext cx="667512" cy="34747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7196328" y="1051560"/>
            <a:ext cx="667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297680" y="148132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343400" y="1865376"/>
            <a:ext cx="667512" cy="347472"/>
          </a:xfrm>
          <a:prstGeom prst="rect">
            <a:avLst/>
          </a:prstGeom>
          <a:solidFill>
            <a:srgbClr val="4ADE8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4343400" y="1865376"/>
            <a:ext cx="667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056632" y="1865376"/>
            <a:ext cx="667512" cy="347472"/>
          </a:xfrm>
          <a:prstGeom prst="rect">
            <a:avLst/>
          </a:prstGeom>
          <a:solidFill>
            <a:srgbClr val="4ADE8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5056632" y="1865376"/>
            <a:ext cx="667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769864" y="1865376"/>
            <a:ext cx="667512" cy="347472"/>
          </a:xfrm>
          <a:prstGeom prst="rect">
            <a:avLst/>
          </a:prstGeom>
          <a:solidFill>
            <a:srgbClr val="FCA5A5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5769864" y="1865376"/>
            <a:ext cx="667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483096" y="1865376"/>
            <a:ext cx="667512" cy="347472"/>
          </a:xfrm>
          <a:prstGeom prst="rect">
            <a:avLst/>
          </a:prstGeom>
          <a:solidFill>
            <a:srgbClr val="4ADE8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6483096" y="1865376"/>
            <a:ext cx="667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7196328" y="1865376"/>
            <a:ext cx="667512" cy="347472"/>
          </a:xfrm>
          <a:prstGeom prst="rect">
            <a:avLst/>
          </a:prstGeom>
          <a:solidFill>
            <a:srgbClr val="4ADE8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6" name="Text 44"/>
          <p:cNvSpPr/>
          <p:nvPr/>
        </p:nvSpPr>
        <p:spPr>
          <a:xfrm>
            <a:off x="7196328" y="1865376"/>
            <a:ext cx="667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982712" y="1865376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343400" y="2258568"/>
            <a:ext cx="667512" cy="347472"/>
          </a:xfrm>
          <a:prstGeom prst="rect">
            <a:avLst/>
          </a:prstGeom>
          <a:solidFill>
            <a:srgbClr val="4ADE8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9" name="Text 47"/>
          <p:cNvSpPr/>
          <p:nvPr/>
        </p:nvSpPr>
        <p:spPr>
          <a:xfrm>
            <a:off x="4343400" y="2258568"/>
            <a:ext cx="667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056632" y="2258568"/>
            <a:ext cx="667512" cy="347472"/>
          </a:xfrm>
          <a:prstGeom prst="rect">
            <a:avLst/>
          </a:prstGeom>
          <a:solidFill>
            <a:srgbClr val="4ADE8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" name="Text 49"/>
          <p:cNvSpPr/>
          <p:nvPr/>
        </p:nvSpPr>
        <p:spPr>
          <a:xfrm>
            <a:off x="5056632" y="2258568"/>
            <a:ext cx="667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5769864" y="2258568"/>
            <a:ext cx="667512" cy="347472"/>
          </a:xfrm>
          <a:prstGeom prst="rect">
            <a:avLst/>
          </a:prstGeom>
          <a:solidFill>
            <a:srgbClr val="4ADE8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3" name="Text 51"/>
          <p:cNvSpPr/>
          <p:nvPr/>
        </p:nvSpPr>
        <p:spPr>
          <a:xfrm>
            <a:off x="5769864" y="2258568"/>
            <a:ext cx="667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6483096" y="2258568"/>
            <a:ext cx="667512" cy="347472"/>
          </a:xfrm>
          <a:prstGeom prst="rect">
            <a:avLst/>
          </a:prstGeom>
          <a:solidFill>
            <a:srgbClr val="FCA5A5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5" name="Text 53"/>
          <p:cNvSpPr/>
          <p:nvPr/>
        </p:nvSpPr>
        <p:spPr>
          <a:xfrm>
            <a:off x="6483096" y="2258568"/>
            <a:ext cx="667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7196328" y="2258568"/>
            <a:ext cx="667512" cy="347472"/>
          </a:xfrm>
          <a:prstGeom prst="rect">
            <a:avLst/>
          </a:prstGeom>
          <a:solidFill>
            <a:srgbClr val="4ADE8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7" name="Text 55"/>
          <p:cNvSpPr/>
          <p:nvPr/>
        </p:nvSpPr>
        <p:spPr>
          <a:xfrm>
            <a:off x="7196328" y="2258568"/>
            <a:ext cx="667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7982712" y="2258568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343400" y="2651760"/>
            <a:ext cx="667512" cy="347472"/>
          </a:xfrm>
          <a:prstGeom prst="rect">
            <a:avLst/>
          </a:prstGeom>
          <a:solidFill>
            <a:srgbClr val="FCA5A5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0" name="Text 58"/>
          <p:cNvSpPr/>
          <p:nvPr/>
        </p:nvSpPr>
        <p:spPr>
          <a:xfrm>
            <a:off x="4343400" y="2651760"/>
            <a:ext cx="667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056632" y="2651760"/>
            <a:ext cx="667512" cy="347472"/>
          </a:xfrm>
          <a:prstGeom prst="rect">
            <a:avLst/>
          </a:prstGeom>
          <a:solidFill>
            <a:srgbClr val="4ADE8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2" name="Text 60"/>
          <p:cNvSpPr/>
          <p:nvPr/>
        </p:nvSpPr>
        <p:spPr>
          <a:xfrm>
            <a:off x="5056632" y="2651760"/>
            <a:ext cx="667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5769864" y="2651760"/>
            <a:ext cx="667512" cy="347472"/>
          </a:xfrm>
          <a:prstGeom prst="rect">
            <a:avLst/>
          </a:prstGeom>
          <a:solidFill>
            <a:srgbClr val="4ADE8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4" name="Text 62"/>
          <p:cNvSpPr/>
          <p:nvPr/>
        </p:nvSpPr>
        <p:spPr>
          <a:xfrm>
            <a:off x="5769864" y="2651760"/>
            <a:ext cx="667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6483096" y="2651760"/>
            <a:ext cx="667512" cy="347472"/>
          </a:xfrm>
          <a:prstGeom prst="rect">
            <a:avLst/>
          </a:prstGeom>
          <a:solidFill>
            <a:srgbClr val="4ADE8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6" name="Text 64"/>
          <p:cNvSpPr/>
          <p:nvPr/>
        </p:nvSpPr>
        <p:spPr>
          <a:xfrm>
            <a:off x="6483096" y="2651760"/>
            <a:ext cx="667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7196328" y="2651760"/>
            <a:ext cx="667512" cy="347472"/>
          </a:xfrm>
          <a:prstGeom prst="rect">
            <a:avLst/>
          </a:prstGeom>
          <a:solidFill>
            <a:srgbClr val="4ADE8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8" name="Text 66"/>
          <p:cNvSpPr/>
          <p:nvPr/>
        </p:nvSpPr>
        <p:spPr>
          <a:xfrm>
            <a:off x="7196328" y="2651760"/>
            <a:ext cx="667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7982712" y="265176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4343400" y="3044952"/>
            <a:ext cx="667512" cy="347472"/>
          </a:xfrm>
          <a:prstGeom prst="rect">
            <a:avLst/>
          </a:prstGeom>
          <a:solidFill>
            <a:srgbClr val="4ADE8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1" name="Text 69"/>
          <p:cNvSpPr/>
          <p:nvPr/>
        </p:nvSpPr>
        <p:spPr>
          <a:xfrm>
            <a:off x="4343400" y="3044952"/>
            <a:ext cx="667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5056632" y="3044952"/>
            <a:ext cx="667512" cy="347472"/>
          </a:xfrm>
          <a:prstGeom prst="rect">
            <a:avLst/>
          </a:prstGeom>
          <a:solidFill>
            <a:srgbClr val="4ADE8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3" name="Text 71"/>
          <p:cNvSpPr/>
          <p:nvPr/>
        </p:nvSpPr>
        <p:spPr>
          <a:xfrm>
            <a:off x="5056632" y="3044952"/>
            <a:ext cx="667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5769864" y="3044952"/>
            <a:ext cx="667512" cy="347472"/>
          </a:xfrm>
          <a:prstGeom prst="rect">
            <a:avLst/>
          </a:prstGeom>
          <a:solidFill>
            <a:srgbClr val="FCA5A5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5" name="Text 73"/>
          <p:cNvSpPr/>
          <p:nvPr/>
        </p:nvSpPr>
        <p:spPr>
          <a:xfrm>
            <a:off x="5769864" y="3044952"/>
            <a:ext cx="667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6483096" y="3044952"/>
            <a:ext cx="667512" cy="347472"/>
          </a:xfrm>
          <a:prstGeom prst="rect">
            <a:avLst/>
          </a:prstGeom>
          <a:solidFill>
            <a:srgbClr val="4ADE8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7" name="Text 75"/>
          <p:cNvSpPr/>
          <p:nvPr/>
        </p:nvSpPr>
        <p:spPr>
          <a:xfrm>
            <a:off x="6483096" y="3044952"/>
            <a:ext cx="667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7196328" y="3044952"/>
            <a:ext cx="667512" cy="347472"/>
          </a:xfrm>
          <a:prstGeom prst="rect">
            <a:avLst/>
          </a:prstGeom>
          <a:solidFill>
            <a:srgbClr val="4ADE8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9" name="Text 77"/>
          <p:cNvSpPr/>
          <p:nvPr/>
        </p:nvSpPr>
        <p:spPr>
          <a:xfrm>
            <a:off x="7196328" y="3044952"/>
            <a:ext cx="667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7982712" y="3044952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800" dirty="0"/>
          </a:p>
        </p:txBody>
      </p:sp>
      <p:sp>
        <p:nvSpPr>
          <p:cNvPr id="128" name="Shape 126"/>
          <p:cNvSpPr/>
          <p:nvPr/>
        </p:nvSpPr>
        <p:spPr>
          <a:xfrm>
            <a:off x="4297680" y="6400800"/>
            <a:ext cx="256032" cy="256032"/>
          </a:xfrm>
          <a:prstGeom prst="rect">
            <a:avLst/>
          </a:prstGeom>
          <a:solidFill>
            <a:srgbClr val="4ADE8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9" name="Text 127"/>
          <p:cNvSpPr/>
          <p:nvPr/>
        </p:nvSpPr>
        <p:spPr>
          <a:xfrm>
            <a:off x="4599432" y="64008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</a:t>
            </a:r>
            <a:endParaRPr lang="en-US" sz="1000" dirty="0"/>
          </a:p>
        </p:txBody>
      </p:sp>
      <p:sp>
        <p:nvSpPr>
          <p:cNvPr id="130" name="Shape 128"/>
          <p:cNvSpPr/>
          <p:nvPr/>
        </p:nvSpPr>
        <p:spPr>
          <a:xfrm>
            <a:off x="5715000" y="6400800"/>
            <a:ext cx="256032" cy="256032"/>
          </a:xfrm>
          <a:prstGeom prst="rect">
            <a:avLst/>
          </a:prstGeom>
          <a:solidFill>
            <a:srgbClr val="FCA5A5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1" name="Text 129"/>
          <p:cNvSpPr/>
          <p:nvPr/>
        </p:nvSpPr>
        <p:spPr>
          <a:xfrm>
            <a:off x="6016752" y="64008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</a:t>
            </a:r>
            <a:endParaRPr lang="en-US" sz="1000" dirty="0"/>
          </a:p>
        </p:txBody>
      </p:sp>
      <p:sp>
        <p:nvSpPr>
          <p:cNvPr id="132" name="Shape 130"/>
          <p:cNvSpPr/>
          <p:nvPr/>
        </p:nvSpPr>
        <p:spPr>
          <a:xfrm>
            <a:off x="7132320" y="6400800"/>
            <a:ext cx="256032" cy="2560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3" name="Text 131"/>
          <p:cNvSpPr/>
          <p:nvPr/>
        </p:nvSpPr>
        <p:spPr>
          <a:xfrm>
            <a:off x="7434072" y="64008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defini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201168"/>
            <a:ext cx="1051560" cy="402336"/>
          </a:xfrm>
          <a:prstGeom prst="roundRect">
            <a:avLst>
              <a:gd name="adj" fmla="val 2272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7772400" y="201168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NOUVEAU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Hebdomadaire ASV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86384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Saisie precise des heures jour par jour avec calcul automatique des heures supplementaires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11480" y="1325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04672" y="13258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Saisie horaire precise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04672" y="158191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Heure d'arrivee, depart, pause pour chaque jour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198424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11480" y="19842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04672" y="19842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heures sup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04672" y="224028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Plage 13h-15h = heures supplementaires auto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1480" y="264261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11480" y="2642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04672" y="264261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 1607h/an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04672" y="289864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 en temps reel par rapport au quota legal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11480" y="330098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11480" y="33009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04672" y="330098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partiel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04672" y="355701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ajuste pour Julie (75%), Marie et Johanna (100%)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11480" y="395935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411480" y="39593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04672" y="39593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de navigation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04672" y="421538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Fleches lundi-lundi, retour a aujourd'hui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0" y="1234440"/>
            <a:ext cx="4206240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4663440" y="1298448"/>
            <a:ext cx="256032" cy="256032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4663440" y="12984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10912" y="12801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Marie — Semaine du 29 juin 2026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572000" y="1728216"/>
            <a:ext cx="4206240" cy="32918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4572000" y="1728216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394960" y="1728216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053328" y="1728216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711696" y="1728216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278624" y="1728216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936992" y="1728216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H.Sup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572000" y="2057400"/>
            <a:ext cx="42062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4572000" y="205740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Lundi 29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394960" y="2057400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08:00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053328" y="2057400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18:30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711696" y="205740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01:00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278624" y="2057400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09h30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936992" y="205740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00h30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572000" y="2441448"/>
            <a:ext cx="420624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Text 43"/>
          <p:cNvSpPr/>
          <p:nvPr/>
        </p:nvSpPr>
        <p:spPr>
          <a:xfrm>
            <a:off x="4572000" y="244144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Mardi 30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394960" y="2441448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08:00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053328" y="2441448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17:30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711696" y="2441448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01:00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278624" y="2441448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08h30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936992" y="244144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572000" y="2825496"/>
            <a:ext cx="42062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2" name="Text 50"/>
          <p:cNvSpPr/>
          <p:nvPr/>
        </p:nvSpPr>
        <p:spPr>
          <a:xfrm>
            <a:off x="4572000" y="2825496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Mercredi 1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394960" y="2825496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08:30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053328" y="2825496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17:00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711696" y="2825496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00:30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7278624" y="2825496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08h00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7936992" y="282549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572000" y="3209544"/>
            <a:ext cx="420624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9" name="Text 57"/>
          <p:cNvSpPr/>
          <p:nvPr/>
        </p:nvSpPr>
        <p:spPr>
          <a:xfrm>
            <a:off x="4572000" y="320954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Jeudi 2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5394960" y="3209544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08:00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6053328" y="3209544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18:00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6711696" y="3209544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01:00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7278624" y="3209544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09h00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7936992" y="3209544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4572000" y="3593592"/>
            <a:ext cx="42062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6" name="Text 64"/>
          <p:cNvSpPr/>
          <p:nvPr/>
        </p:nvSpPr>
        <p:spPr>
          <a:xfrm>
            <a:off x="4572000" y="359359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Vendredi 3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5394960" y="3593592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08:00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6053328" y="3593592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17:00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6711696" y="359359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01:00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7278624" y="3593592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08h00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7936992" y="359359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4572000" y="3977640"/>
            <a:ext cx="4206240" cy="3840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3" name="Text 71"/>
          <p:cNvSpPr/>
          <p:nvPr/>
        </p:nvSpPr>
        <p:spPr>
          <a:xfrm>
            <a:off x="4572000" y="397764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7278624" y="3977640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43h00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7936992" y="397764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00h30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4572000" y="4480560"/>
            <a:ext cx="4206240" cy="384048"/>
          </a:xfrm>
          <a:prstGeom prst="roundRect">
            <a:avLst>
              <a:gd name="adj" fmla="val 19048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7" name="Text 75"/>
          <p:cNvSpPr/>
          <p:nvPr/>
        </p:nvSpPr>
        <p:spPr>
          <a:xfrm>
            <a:off x="4663440" y="448056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Plage 13h-15h comptabilisee automatiquement comme heure supplementaire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des Heures ASV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040880" y="182880"/>
            <a:ext cx="1783080" cy="594360"/>
          </a:xfrm>
          <a:prstGeom prst="roundRect">
            <a:avLst>
              <a:gd name="adj" fmla="val 18462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7040880" y="18288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1607h / an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legale Loi Aubry 2000 — Convention collective veterinaires IDCC 1875 — 35h/semaine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7532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25400">
            <a:solidFill>
              <a:srgbClr val="14B8A6"/>
            </a:solidFill>
            <a:prstDash val="solid"/>
          </a:ln>
          <a:effectLst>
            <a:outerShdw blurRad="635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685800" y="135331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 annuel = 1607h x Temps de travail (timeFraction)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71907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Marie : 1.0  →  1607h     Johanna : 1.0  →  1607h     Julie : 0.75  →  1205h (temps partiel)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2359152"/>
            <a:ext cx="274320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4ADE80"/>
            </a:solidFill>
            <a:prstDash val="solid"/>
          </a:ln>
          <a:effectLst>
            <a:outerShdw blurRad="635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1435608" y="2487168"/>
            <a:ext cx="685800" cy="68580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1435608" y="248716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48640" y="32461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35661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100 % temps plein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" y="3913632"/>
            <a:ext cx="2331720" cy="29260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612648" y="3913632"/>
            <a:ext cx="1282446" cy="29260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612648" y="391363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426110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886h / 1607h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45537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+4h vs M-1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489204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721h restantes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46120" y="2359152"/>
            <a:ext cx="274320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60A5FA"/>
            </a:solidFill>
            <a:prstDash val="solid"/>
          </a:ln>
          <a:effectLst>
            <a:outerShdw blurRad="635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4270248" y="2487168"/>
            <a:ext cx="685800" cy="68580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270248" y="248716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383280" y="32461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Johanna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383280" y="35661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100 % temps plein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447288" y="3913632"/>
            <a:ext cx="2331720" cy="29260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3447288" y="3913632"/>
            <a:ext cx="1189177" cy="29260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3447288" y="391363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83280" y="426110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812h / 1607h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83280" y="45537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-2h vs M-1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383280" y="489204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795h restantes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080760" y="2359152"/>
            <a:ext cx="274320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C084FC"/>
            </a:solidFill>
            <a:prstDash val="solid"/>
          </a:ln>
          <a:effectLst>
            <a:outerShdw blurRad="635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7104888" y="2487168"/>
            <a:ext cx="685800" cy="685800"/>
          </a:xfrm>
          <a:prstGeom prst="ellipse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7104888" y="248716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217920" y="32461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217920" y="35661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75 % temps partiel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281928" y="3913632"/>
            <a:ext cx="2331720" cy="29260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Shape 35"/>
          <p:cNvSpPr/>
          <p:nvPr/>
        </p:nvSpPr>
        <p:spPr>
          <a:xfrm>
            <a:off x="6281928" y="3913632"/>
            <a:ext cx="1165860" cy="292608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6281928" y="391363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17920" y="426110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603h / 1205h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217920" y="45537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+1h vs M-1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217920" y="489204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602h restantes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411480" y="5715000"/>
            <a:ext cx="8321040" cy="457200"/>
          </a:xfrm>
          <a:prstGeom prst="roundRect">
            <a:avLst>
              <a:gd name="adj" fmla="val 20000"/>
            </a:avLst>
          </a:prstGeom>
          <a:solidFill>
            <a:srgbClr val="ECFDF5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548640" y="57150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heures supplementaires detectees dans la vue hebdomadaire s'integrent automatiquement au suivi mensuel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Annuelle &amp; Previsionnel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12 mois · Navigation N / N+1 · Motifs de conges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92240" y="109728"/>
            <a:ext cx="749808" cy="320040"/>
          </a:xfrm>
          <a:prstGeom prst="roundRect">
            <a:avLst>
              <a:gd name="adj" fmla="val 22857"/>
            </a:avLst>
          </a:prstGeom>
          <a:solidFill>
            <a:srgbClr val="0D9488">
              <a:alpha val="60000"/>
            </a:srgbClr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6492240" y="109728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(N-1)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315200" y="109728"/>
            <a:ext cx="749808" cy="320040"/>
          </a:xfrm>
          <a:prstGeom prst="roundRect">
            <a:avLst>
              <a:gd name="adj" fmla="val 22857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7315200" y="109728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(N)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8138160" y="109728"/>
            <a:ext cx="749808" cy="320040"/>
          </a:xfrm>
          <a:prstGeom prst="roundRect">
            <a:avLst>
              <a:gd name="adj" fmla="val 22857"/>
            </a:avLst>
          </a:prstGeom>
          <a:solidFill>
            <a:srgbClr val="0D9488">
              <a:alpha val="60000"/>
            </a:srgbClr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8138160" y="109728"/>
            <a:ext cx="749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 (N+1)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234440" y="1389181"/>
            <a:ext cx="7287768" cy="34747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1234440" y="1389181"/>
            <a:ext cx="603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837944" y="1389181"/>
            <a:ext cx="603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41448" y="1389181"/>
            <a:ext cx="603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044952" y="1389181"/>
            <a:ext cx="603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48456" y="1389181"/>
            <a:ext cx="603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251960" y="1389181"/>
            <a:ext cx="603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55464" y="1389181"/>
            <a:ext cx="603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58968" y="1389181"/>
            <a:ext cx="603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Aou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062472" y="1389181"/>
            <a:ext cx="603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665976" y="1389181"/>
            <a:ext cx="603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269480" y="1389181"/>
            <a:ext cx="603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872984" y="1389181"/>
            <a:ext cx="603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1736653"/>
            <a:ext cx="841248" cy="548640"/>
          </a:xfrm>
          <a:prstGeom prst="roundRect">
            <a:avLst>
              <a:gd name="adj" fmla="val 133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320040" y="1736653"/>
            <a:ext cx="841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234440" y="1736653"/>
            <a:ext cx="566928" cy="548640"/>
          </a:xfrm>
          <a:prstGeom prst="rect">
            <a:avLst/>
          </a:prstGeom>
          <a:solidFill>
            <a:srgbClr val="86EFA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1234440" y="1736653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837944" y="1736653"/>
            <a:ext cx="566928" cy="548640"/>
          </a:xfrm>
          <a:prstGeom prst="rect">
            <a:avLst/>
          </a:prstGeom>
          <a:solidFill>
            <a:srgbClr val="86EFA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1837944" y="1736653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441448" y="1736653"/>
            <a:ext cx="566928" cy="548640"/>
          </a:xfrm>
          <a:prstGeom prst="rect">
            <a:avLst/>
          </a:prstGeom>
          <a:solidFill>
            <a:srgbClr val="FDE68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2441448" y="1736653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044952" y="1736653"/>
            <a:ext cx="566928" cy="548640"/>
          </a:xfrm>
          <a:prstGeom prst="rect">
            <a:avLst/>
          </a:prstGeom>
          <a:solidFill>
            <a:srgbClr val="86EFA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3044952" y="1736653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648456" y="1736653"/>
            <a:ext cx="566928" cy="548640"/>
          </a:xfrm>
          <a:prstGeom prst="rect">
            <a:avLst/>
          </a:prstGeom>
          <a:solidFill>
            <a:srgbClr val="86EFA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3648456" y="1736653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251960" y="1736653"/>
            <a:ext cx="566928" cy="548640"/>
          </a:xfrm>
          <a:prstGeom prst="rect">
            <a:avLst/>
          </a:prstGeom>
          <a:solidFill>
            <a:srgbClr val="FDE68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4251960" y="1736653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855464" y="1736653"/>
            <a:ext cx="566928" cy="548640"/>
          </a:xfrm>
          <a:prstGeom prst="rect">
            <a:avLst/>
          </a:prstGeom>
          <a:solidFill>
            <a:srgbClr val="FDE68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4855464" y="1736653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458968" y="1736653"/>
            <a:ext cx="566928" cy="548640"/>
          </a:xfrm>
          <a:prstGeom prst="rect">
            <a:avLst/>
          </a:prstGeom>
          <a:solidFill>
            <a:srgbClr val="FDE68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5458968" y="1736653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062472" y="1736653"/>
            <a:ext cx="566928" cy="548640"/>
          </a:xfrm>
          <a:prstGeom prst="rect">
            <a:avLst/>
          </a:prstGeom>
          <a:solidFill>
            <a:srgbClr val="86EFA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6062472" y="1736653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665976" y="1736653"/>
            <a:ext cx="566928" cy="548640"/>
          </a:xfrm>
          <a:prstGeom prst="rect">
            <a:avLst/>
          </a:prstGeom>
          <a:solidFill>
            <a:srgbClr val="86EFA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Text 43"/>
          <p:cNvSpPr/>
          <p:nvPr/>
        </p:nvSpPr>
        <p:spPr>
          <a:xfrm>
            <a:off x="6665976" y="1736653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7269480" y="1736653"/>
            <a:ext cx="566928" cy="548640"/>
          </a:xfrm>
          <a:prstGeom prst="rect">
            <a:avLst/>
          </a:prstGeom>
          <a:solidFill>
            <a:srgbClr val="86EFA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7269480" y="1736653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7872984" y="1736653"/>
            <a:ext cx="566928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9" name="Text 47"/>
          <p:cNvSpPr/>
          <p:nvPr/>
        </p:nvSpPr>
        <p:spPr>
          <a:xfrm>
            <a:off x="7872984" y="1736653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320040" y="2358445"/>
            <a:ext cx="841248" cy="548640"/>
          </a:xfrm>
          <a:prstGeom prst="roundRect">
            <a:avLst>
              <a:gd name="adj" fmla="val 13333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" name="Text 49"/>
          <p:cNvSpPr/>
          <p:nvPr/>
        </p:nvSpPr>
        <p:spPr>
          <a:xfrm>
            <a:off x="320040" y="2358445"/>
            <a:ext cx="841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Stephane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1234440" y="2358445"/>
            <a:ext cx="566928" cy="548640"/>
          </a:xfrm>
          <a:prstGeom prst="rect">
            <a:avLst/>
          </a:prstGeom>
          <a:solidFill>
            <a:srgbClr val="86EFA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3" name="Text 51"/>
          <p:cNvSpPr/>
          <p:nvPr/>
        </p:nvSpPr>
        <p:spPr>
          <a:xfrm>
            <a:off x="1234440" y="2358445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1837944" y="2358445"/>
            <a:ext cx="566928" cy="548640"/>
          </a:xfrm>
          <a:prstGeom prst="rect">
            <a:avLst/>
          </a:prstGeom>
          <a:solidFill>
            <a:srgbClr val="86EFA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5" name="Text 53"/>
          <p:cNvSpPr/>
          <p:nvPr/>
        </p:nvSpPr>
        <p:spPr>
          <a:xfrm>
            <a:off x="1837944" y="2358445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2441448" y="2358445"/>
            <a:ext cx="566928" cy="548640"/>
          </a:xfrm>
          <a:prstGeom prst="rect">
            <a:avLst/>
          </a:prstGeom>
          <a:solidFill>
            <a:srgbClr val="86EFA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7" name="Text 55"/>
          <p:cNvSpPr/>
          <p:nvPr/>
        </p:nvSpPr>
        <p:spPr>
          <a:xfrm>
            <a:off x="2441448" y="2358445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3044952" y="2358445"/>
            <a:ext cx="566928" cy="548640"/>
          </a:xfrm>
          <a:prstGeom prst="rect">
            <a:avLst/>
          </a:prstGeom>
          <a:solidFill>
            <a:srgbClr val="FDE68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9" name="Text 57"/>
          <p:cNvSpPr/>
          <p:nvPr/>
        </p:nvSpPr>
        <p:spPr>
          <a:xfrm>
            <a:off x="3044952" y="2358445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3648456" y="2358445"/>
            <a:ext cx="566928" cy="548640"/>
          </a:xfrm>
          <a:prstGeom prst="rect">
            <a:avLst/>
          </a:prstGeom>
          <a:solidFill>
            <a:srgbClr val="FDE68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1" name="Text 59"/>
          <p:cNvSpPr/>
          <p:nvPr/>
        </p:nvSpPr>
        <p:spPr>
          <a:xfrm>
            <a:off x="3648456" y="2358445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4251960" y="2358445"/>
            <a:ext cx="566928" cy="548640"/>
          </a:xfrm>
          <a:prstGeom prst="rect">
            <a:avLst/>
          </a:prstGeom>
          <a:solidFill>
            <a:srgbClr val="86EFA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3" name="Text 61"/>
          <p:cNvSpPr/>
          <p:nvPr/>
        </p:nvSpPr>
        <p:spPr>
          <a:xfrm>
            <a:off x="4251960" y="2358445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4855464" y="2358445"/>
            <a:ext cx="566928" cy="548640"/>
          </a:xfrm>
          <a:prstGeom prst="rect">
            <a:avLst/>
          </a:prstGeom>
          <a:solidFill>
            <a:srgbClr val="FDE68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5" name="Text 63"/>
          <p:cNvSpPr/>
          <p:nvPr/>
        </p:nvSpPr>
        <p:spPr>
          <a:xfrm>
            <a:off x="4855464" y="2358445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5458968" y="2358445"/>
            <a:ext cx="566928" cy="548640"/>
          </a:xfrm>
          <a:prstGeom prst="rect">
            <a:avLst/>
          </a:prstGeom>
          <a:solidFill>
            <a:srgbClr val="FCA5A5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7" name="Text 65"/>
          <p:cNvSpPr/>
          <p:nvPr/>
        </p:nvSpPr>
        <p:spPr>
          <a:xfrm>
            <a:off x="5458968" y="2358445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6062472" y="2358445"/>
            <a:ext cx="566928" cy="548640"/>
          </a:xfrm>
          <a:prstGeom prst="rect">
            <a:avLst/>
          </a:prstGeom>
          <a:solidFill>
            <a:srgbClr val="86EFA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9" name="Text 67"/>
          <p:cNvSpPr/>
          <p:nvPr/>
        </p:nvSpPr>
        <p:spPr>
          <a:xfrm>
            <a:off x="6062472" y="2358445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6665976" y="2358445"/>
            <a:ext cx="566928" cy="548640"/>
          </a:xfrm>
          <a:prstGeom prst="rect">
            <a:avLst/>
          </a:prstGeom>
          <a:solidFill>
            <a:srgbClr val="86EFA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1" name="Text 69"/>
          <p:cNvSpPr/>
          <p:nvPr/>
        </p:nvSpPr>
        <p:spPr>
          <a:xfrm>
            <a:off x="6665976" y="2358445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7269480" y="2358445"/>
            <a:ext cx="566928" cy="548640"/>
          </a:xfrm>
          <a:prstGeom prst="rect">
            <a:avLst/>
          </a:prstGeom>
          <a:solidFill>
            <a:srgbClr val="FDE68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3" name="Text 71"/>
          <p:cNvSpPr/>
          <p:nvPr/>
        </p:nvSpPr>
        <p:spPr>
          <a:xfrm>
            <a:off x="7269480" y="2358445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7872984" y="2358445"/>
            <a:ext cx="566928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5" name="Text 73"/>
          <p:cNvSpPr/>
          <p:nvPr/>
        </p:nvSpPr>
        <p:spPr>
          <a:xfrm>
            <a:off x="7872984" y="2358445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320040" y="2980237"/>
            <a:ext cx="841248" cy="548640"/>
          </a:xfrm>
          <a:prstGeom prst="roundRect">
            <a:avLst>
              <a:gd name="adj" fmla="val 13333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7" name="Text 75"/>
          <p:cNvSpPr/>
          <p:nvPr/>
        </p:nvSpPr>
        <p:spPr>
          <a:xfrm>
            <a:off x="320040" y="2980237"/>
            <a:ext cx="841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Marie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1234440" y="2980237"/>
            <a:ext cx="566928" cy="548640"/>
          </a:xfrm>
          <a:prstGeom prst="rect">
            <a:avLst/>
          </a:prstGeom>
          <a:solidFill>
            <a:srgbClr val="86EFA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9" name="Text 77"/>
          <p:cNvSpPr/>
          <p:nvPr/>
        </p:nvSpPr>
        <p:spPr>
          <a:xfrm>
            <a:off x="1234440" y="2980237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1837944" y="2980237"/>
            <a:ext cx="566928" cy="548640"/>
          </a:xfrm>
          <a:prstGeom prst="rect">
            <a:avLst/>
          </a:prstGeom>
          <a:solidFill>
            <a:srgbClr val="86EFA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1" name="Text 79"/>
          <p:cNvSpPr/>
          <p:nvPr/>
        </p:nvSpPr>
        <p:spPr>
          <a:xfrm>
            <a:off x="1837944" y="2980237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2441448" y="2980237"/>
            <a:ext cx="566928" cy="548640"/>
          </a:xfrm>
          <a:prstGeom prst="rect">
            <a:avLst/>
          </a:prstGeom>
          <a:solidFill>
            <a:srgbClr val="86EFA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3" name="Text 81"/>
          <p:cNvSpPr/>
          <p:nvPr/>
        </p:nvSpPr>
        <p:spPr>
          <a:xfrm>
            <a:off x="2441448" y="2980237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3044952" y="2980237"/>
            <a:ext cx="566928" cy="548640"/>
          </a:xfrm>
          <a:prstGeom prst="rect">
            <a:avLst/>
          </a:prstGeom>
          <a:solidFill>
            <a:srgbClr val="86EFA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5" name="Text 83"/>
          <p:cNvSpPr/>
          <p:nvPr/>
        </p:nvSpPr>
        <p:spPr>
          <a:xfrm>
            <a:off x="3044952" y="2980237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3648456" y="2980237"/>
            <a:ext cx="566928" cy="548640"/>
          </a:xfrm>
          <a:prstGeom prst="rect">
            <a:avLst/>
          </a:prstGeom>
          <a:solidFill>
            <a:srgbClr val="86EFA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7" name="Text 85"/>
          <p:cNvSpPr/>
          <p:nvPr/>
        </p:nvSpPr>
        <p:spPr>
          <a:xfrm>
            <a:off x="3648456" y="2980237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4251960" y="2980237"/>
            <a:ext cx="566928" cy="548640"/>
          </a:xfrm>
          <a:prstGeom prst="rect">
            <a:avLst/>
          </a:prstGeom>
          <a:solidFill>
            <a:srgbClr val="86EFA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9" name="Text 87"/>
          <p:cNvSpPr/>
          <p:nvPr/>
        </p:nvSpPr>
        <p:spPr>
          <a:xfrm>
            <a:off x="4251960" y="2980237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4855464" y="2980237"/>
            <a:ext cx="566928" cy="548640"/>
          </a:xfrm>
          <a:prstGeom prst="rect">
            <a:avLst/>
          </a:prstGeom>
          <a:solidFill>
            <a:srgbClr val="FDE68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1" name="Text 89"/>
          <p:cNvSpPr/>
          <p:nvPr/>
        </p:nvSpPr>
        <p:spPr>
          <a:xfrm>
            <a:off x="4855464" y="2980237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5458968" y="2980237"/>
            <a:ext cx="566928" cy="548640"/>
          </a:xfrm>
          <a:prstGeom prst="rect">
            <a:avLst/>
          </a:prstGeom>
          <a:solidFill>
            <a:srgbClr val="FCA5A5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3" name="Text 91"/>
          <p:cNvSpPr/>
          <p:nvPr/>
        </p:nvSpPr>
        <p:spPr>
          <a:xfrm>
            <a:off x="5458968" y="2980237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6062472" y="2980237"/>
            <a:ext cx="566928" cy="548640"/>
          </a:xfrm>
          <a:prstGeom prst="rect">
            <a:avLst/>
          </a:prstGeom>
          <a:solidFill>
            <a:srgbClr val="86EFA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5" name="Text 93"/>
          <p:cNvSpPr/>
          <p:nvPr/>
        </p:nvSpPr>
        <p:spPr>
          <a:xfrm>
            <a:off x="6062472" y="2980237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6665976" y="2980237"/>
            <a:ext cx="566928" cy="548640"/>
          </a:xfrm>
          <a:prstGeom prst="rect">
            <a:avLst/>
          </a:prstGeom>
          <a:solidFill>
            <a:srgbClr val="86EFA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7" name="Text 95"/>
          <p:cNvSpPr/>
          <p:nvPr/>
        </p:nvSpPr>
        <p:spPr>
          <a:xfrm>
            <a:off x="6665976" y="2980237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7269480" y="2980237"/>
            <a:ext cx="566928" cy="548640"/>
          </a:xfrm>
          <a:prstGeom prst="rect">
            <a:avLst/>
          </a:prstGeom>
          <a:solidFill>
            <a:srgbClr val="86EFA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9" name="Text 97"/>
          <p:cNvSpPr/>
          <p:nvPr/>
        </p:nvSpPr>
        <p:spPr>
          <a:xfrm>
            <a:off x="7269480" y="2980237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850" dirty="0"/>
          </a:p>
        </p:txBody>
      </p:sp>
      <p:sp>
        <p:nvSpPr>
          <p:cNvPr id="100" name="Shape 98"/>
          <p:cNvSpPr/>
          <p:nvPr/>
        </p:nvSpPr>
        <p:spPr>
          <a:xfrm>
            <a:off x="7872984" y="2980237"/>
            <a:ext cx="566928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1" name="Text 99"/>
          <p:cNvSpPr/>
          <p:nvPr/>
        </p:nvSpPr>
        <p:spPr>
          <a:xfrm>
            <a:off x="7872984" y="2980237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102" name="Shape 100"/>
          <p:cNvSpPr/>
          <p:nvPr/>
        </p:nvSpPr>
        <p:spPr>
          <a:xfrm>
            <a:off x="320040" y="3602029"/>
            <a:ext cx="841248" cy="548640"/>
          </a:xfrm>
          <a:prstGeom prst="roundRect">
            <a:avLst>
              <a:gd name="adj" fmla="val 13333"/>
            </a:avLst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3" name="Text 101"/>
          <p:cNvSpPr/>
          <p:nvPr/>
        </p:nvSpPr>
        <p:spPr>
          <a:xfrm>
            <a:off x="320040" y="3602029"/>
            <a:ext cx="841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Johanna</a:t>
            </a:r>
            <a:endParaRPr lang="en-US" sz="1000" dirty="0"/>
          </a:p>
        </p:txBody>
      </p:sp>
      <p:sp>
        <p:nvSpPr>
          <p:cNvPr id="104" name="Shape 102"/>
          <p:cNvSpPr/>
          <p:nvPr/>
        </p:nvSpPr>
        <p:spPr>
          <a:xfrm>
            <a:off x="1234440" y="3602029"/>
            <a:ext cx="566928" cy="548640"/>
          </a:xfrm>
          <a:prstGeom prst="rect">
            <a:avLst/>
          </a:prstGeom>
          <a:solidFill>
            <a:srgbClr val="86EFA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5" name="Text 103"/>
          <p:cNvSpPr/>
          <p:nvPr/>
        </p:nvSpPr>
        <p:spPr>
          <a:xfrm>
            <a:off x="1234440" y="3602029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850" dirty="0"/>
          </a:p>
        </p:txBody>
      </p:sp>
      <p:sp>
        <p:nvSpPr>
          <p:cNvPr id="106" name="Shape 104"/>
          <p:cNvSpPr/>
          <p:nvPr/>
        </p:nvSpPr>
        <p:spPr>
          <a:xfrm>
            <a:off x="1837944" y="3602029"/>
            <a:ext cx="566928" cy="548640"/>
          </a:xfrm>
          <a:prstGeom prst="rect">
            <a:avLst/>
          </a:prstGeom>
          <a:solidFill>
            <a:srgbClr val="86EFA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7" name="Text 105"/>
          <p:cNvSpPr/>
          <p:nvPr/>
        </p:nvSpPr>
        <p:spPr>
          <a:xfrm>
            <a:off x="1837944" y="3602029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850" dirty="0"/>
          </a:p>
        </p:txBody>
      </p:sp>
      <p:sp>
        <p:nvSpPr>
          <p:cNvPr id="108" name="Shape 106"/>
          <p:cNvSpPr/>
          <p:nvPr/>
        </p:nvSpPr>
        <p:spPr>
          <a:xfrm>
            <a:off x="2441448" y="3602029"/>
            <a:ext cx="566928" cy="548640"/>
          </a:xfrm>
          <a:prstGeom prst="rect">
            <a:avLst/>
          </a:prstGeom>
          <a:solidFill>
            <a:srgbClr val="86EFA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9" name="Text 107"/>
          <p:cNvSpPr/>
          <p:nvPr/>
        </p:nvSpPr>
        <p:spPr>
          <a:xfrm>
            <a:off x="2441448" y="3602029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850" dirty="0"/>
          </a:p>
        </p:txBody>
      </p:sp>
      <p:sp>
        <p:nvSpPr>
          <p:cNvPr id="110" name="Shape 108"/>
          <p:cNvSpPr/>
          <p:nvPr/>
        </p:nvSpPr>
        <p:spPr>
          <a:xfrm>
            <a:off x="3044952" y="3602029"/>
            <a:ext cx="566928" cy="548640"/>
          </a:xfrm>
          <a:prstGeom prst="rect">
            <a:avLst/>
          </a:prstGeom>
          <a:solidFill>
            <a:srgbClr val="86EFA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1" name="Text 109"/>
          <p:cNvSpPr/>
          <p:nvPr/>
        </p:nvSpPr>
        <p:spPr>
          <a:xfrm>
            <a:off x="3044952" y="3602029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850" dirty="0"/>
          </a:p>
        </p:txBody>
      </p:sp>
      <p:sp>
        <p:nvSpPr>
          <p:cNvPr id="112" name="Shape 110"/>
          <p:cNvSpPr/>
          <p:nvPr/>
        </p:nvSpPr>
        <p:spPr>
          <a:xfrm>
            <a:off x="3648456" y="3602029"/>
            <a:ext cx="566928" cy="548640"/>
          </a:xfrm>
          <a:prstGeom prst="rect">
            <a:avLst/>
          </a:prstGeom>
          <a:solidFill>
            <a:srgbClr val="86EFA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3" name="Text 111"/>
          <p:cNvSpPr/>
          <p:nvPr/>
        </p:nvSpPr>
        <p:spPr>
          <a:xfrm>
            <a:off x="3648456" y="3602029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850" dirty="0"/>
          </a:p>
        </p:txBody>
      </p:sp>
      <p:sp>
        <p:nvSpPr>
          <p:cNvPr id="114" name="Shape 112"/>
          <p:cNvSpPr/>
          <p:nvPr/>
        </p:nvSpPr>
        <p:spPr>
          <a:xfrm>
            <a:off x="4251960" y="3602029"/>
            <a:ext cx="566928" cy="548640"/>
          </a:xfrm>
          <a:prstGeom prst="rect">
            <a:avLst/>
          </a:prstGeom>
          <a:solidFill>
            <a:srgbClr val="86EFA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5" name="Text 113"/>
          <p:cNvSpPr/>
          <p:nvPr/>
        </p:nvSpPr>
        <p:spPr>
          <a:xfrm>
            <a:off x="4251960" y="3602029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850" dirty="0"/>
          </a:p>
        </p:txBody>
      </p:sp>
      <p:sp>
        <p:nvSpPr>
          <p:cNvPr id="116" name="Shape 114"/>
          <p:cNvSpPr/>
          <p:nvPr/>
        </p:nvSpPr>
        <p:spPr>
          <a:xfrm>
            <a:off x="4855464" y="3602029"/>
            <a:ext cx="566928" cy="548640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7" name="Text 115"/>
          <p:cNvSpPr/>
          <p:nvPr/>
        </p:nvSpPr>
        <p:spPr>
          <a:xfrm>
            <a:off x="4855464" y="3602029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</a:t>
            </a:r>
            <a:endParaRPr lang="en-US" sz="850" dirty="0"/>
          </a:p>
        </p:txBody>
      </p:sp>
      <p:sp>
        <p:nvSpPr>
          <p:cNvPr id="118" name="Shape 116"/>
          <p:cNvSpPr/>
          <p:nvPr/>
        </p:nvSpPr>
        <p:spPr>
          <a:xfrm>
            <a:off x="5458968" y="3602029"/>
            <a:ext cx="566928" cy="548640"/>
          </a:xfrm>
          <a:prstGeom prst="rect">
            <a:avLst/>
          </a:prstGeom>
          <a:solidFill>
            <a:srgbClr val="FCA5A5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9" name="Text 117"/>
          <p:cNvSpPr/>
          <p:nvPr/>
        </p:nvSpPr>
        <p:spPr>
          <a:xfrm>
            <a:off x="5458968" y="3602029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850" dirty="0"/>
          </a:p>
        </p:txBody>
      </p:sp>
      <p:sp>
        <p:nvSpPr>
          <p:cNvPr id="120" name="Shape 118"/>
          <p:cNvSpPr/>
          <p:nvPr/>
        </p:nvSpPr>
        <p:spPr>
          <a:xfrm>
            <a:off x="6062472" y="3602029"/>
            <a:ext cx="566928" cy="548640"/>
          </a:xfrm>
          <a:prstGeom prst="rect">
            <a:avLst/>
          </a:prstGeom>
          <a:solidFill>
            <a:srgbClr val="86EFA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1" name="Text 119"/>
          <p:cNvSpPr/>
          <p:nvPr/>
        </p:nvSpPr>
        <p:spPr>
          <a:xfrm>
            <a:off x="6062472" y="3602029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850" dirty="0"/>
          </a:p>
        </p:txBody>
      </p:sp>
      <p:sp>
        <p:nvSpPr>
          <p:cNvPr id="122" name="Shape 120"/>
          <p:cNvSpPr/>
          <p:nvPr/>
        </p:nvSpPr>
        <p:spPr>
          <a:xfrm>
            <a:off x="6665976" y="3602029"/>
            <a:ext cx="566928" cy="548640"/>
          </a:xfrm>
          <a:prstGeom prst="rect">
            <a:avLst/>
          </a:prstGeom>
          <a:solidFill>
            <a:srgbClr val="86EFA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3" name="Text 121"/>
          <p:cNvSpPr/>
          <p:nvPr/>
        </p:nvSpPr>
        <p:spPr>
          <a:xfrm>
            <a:off x="6665976" y="3602029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850" dirty="0"/>
          </a:p>
        </p:txBody>
      </p:sp>
      <p:sp>
        <p:nvSpPr>
          <p:cNvPr id="124" name="Shape 122"/>
          <p:cNvSpPr/>
          <p:nvPr/>
        </p:nvSpPr>
        <p:spPr>
          <a:xfrm>
            <a:off x="7269480" y="3602029"/>
            <a:ext cx="566928" cy="548640"/>
          </a:xfrm>
          <a:prstGeom prst="rect">
            <a:avLst/>
          </a:prstGeom>
          <a:solidFill>
            <a:srgbClr val="86EFA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5" name="Text 123"/>
          <p:cNvSpPr/>
          <p:nvPr/>
        </p:nvSpPr>
        <p:spPr>
          <a:xfrm>
            <a:off x="7269480" y="3602029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850" dirty="0"/>
          </a:p>
        </p:txBody>
      </p:sp>
      <p:sp>
        <p:nvSpPr>
          <p:cNvPr id="126" name="Shape 124"/>
          <p:cNvSpPr/>
          <p:nvPr/>
        </p:nvSpPr>
        <p:spPr>
          <a:xfrm>
            <a:off x="7872984" y="3602029"/>
            <a:ext cx="566928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7" name="Text 125"/>
          <p:cNvSpPr/>
          <p:nvPr/>
        </p:nvSpPr>
        <p:spPr>
          <a:xfrm>
            <a:off x="7872984" y="3602029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128" name="Shape 126"/>
          <p:cNvSpPr/>
          <p:nvPr/>
        </p:nvSpPr>
        <p:spPr>
          <a:xfrm>
            <a:off x="320040" y="4223821"/>
            <a:ext cx="841248" cy="548640"/>
          </a:xfrm>
          <a:prstGeom prst="roundRect">
            <a:avLst>
              <a:gd name="adj" fmla="val 13333"/>
            </a:avLst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9" name="Text 127"/>
          <p:cNvSpPr/>
          <p:nvPr/>
        </p:nvSpPr>
        <p:spPr>
          <a:xfrm>
            <a:off x="320040" y="4223821"/>
            <a:ext cx="841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Julie</a:t>
            </a:r>
            <a:endParaRPr lang="en-US" sz="1000" dirty="0"/>
          </a:p>
        </p:txBody>
      </p:sp>
      <p:sp>
        <p:nvSpPr>
          <p:cNvPr id="130" name="Shape 128"/>
          <p:cNvSpPr/>
          <p:nvPr/>
        </p:nvSpPr>
        <p:spPr>
          <a:xfrm>
            <a:off x="1234440" y="4223821"/>
            <a:ext cx="566928" cy="548640"/>
          </a:xfrm>
          <a:prstGeom prst="rect">
            <a:avLst/>
          </a:prstGeom>
          <a:solidFill>
            <a:srgbClr val="FDE68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1" name="Text 129"/>
          <p:cNvSpPr/>
          <p:nvPr/>
        </p:nvSpPr>
        <p:spPr>
          <a:xfrm>
            <a:off x="1234440" y="4223821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850" dirty="0"/>
          </a:p>
        </p:txBody>
      </p:sp>
      <p:sp>
        <p:nvSpPr>
          <p:cNvPr id="132" name="Shape 130"/>
          <p:cNvSpPr/>
          <p:nvPr/>
        </p:nvSpPr>
        <p:spPr>
          <a:xfrm>
            <a:off x="1837944" y="4223821"/>
            <a:ext cx="566928" cy="548640"/>
          </a:xfrm>
          <a:prstGeom prst="rect">
            <a:avLst/>
          </a:prstGeom>
          <a:solidFill>
            <a:srgbClr val="FDE68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3" name="Text 131"/>
          <p:cNvSpPr/>
          <p:nvPr/>
        </p:nvSpPr>
        <p:spPr>
          <a:xfrm>
            <a:off x="1837944" y="4223821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850" dirty="0"/>
          </a:p>
        </p:txBody>
      </p:sp>
      <p:sp>
        <p:nvSpPr>
          <p:cNvPr id="134" name="Shape 132"/>
          <p:cNvSpPr/>
          <p:nvPr/>
        </p:nvSpPr>
        <p:spPr>
          <a:xfrm>
            <a:off x="2441448" y="4223821"/>
            <a:ext cx="566928" cy="548640"/>
          </a:xfrm>
          <a:prstGeom prst="rect">
            <a:avLst/>
          </a:prstGeom>
          <a:solidFill>
            <a:srgbClr val="FDE68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5" name="Text 133"/>
          <p:cNvSpPr/>
          <p:nvPr/>
        </p:nvSpPr>
        <p:spPr>
          <a:xfrm>
            <a:off x="2441448" y="4223821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850" dirty="0"/>
          </a:p>
        </p:txBody>
      </p:sp>
      <p:sp>
        <p:nvSpPr>
          <p:cNvPr id="136" name="Shape 134"/>
          <p:cNvSpPr/>
          <p:nvPr/>
        </p:nvSpPr>
        <p:spPr>
          <a:xfrm>
            <a:off x="3044952" y="4223821"/>
            <a:ext cx="566928" cy="548640"/>
          </a:xfrm>
          <a:prstGeom prst="rect">
            <a:avLst/>
          </a:prstGeom>
          <a:solidFill>
            <a:srgbClr val="FDE68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7" name="Text 135"/>
          <p:cNvSpPr/>
          <p:nvPr/>
        </p:nvSpPr>
        <p:spPr>
          <a:xfrm>
            <a:off x="3044952" y="4223821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850" dirty="0"/>
          </a:p>
        </p:txBody>
      </p:sp>
      <p:sp>
        <p:nvSpPr>
          <p:cNvPr id="138" name="Shape 136"/>
          <p:cNvSpPr/>
          <p:nvPr/>
        </p:nvSpPr>
        <p:spPr>
          <a:xfrm>
            <a:off x="3648456" y="4223821"/>
            <a:ext cx="566928" cy="548640"/>
          </a:xfrm>
          <a:prstGeom prst="rect">
            <a:avLst/>
          </a:prstGeom>
          <a:solidFill>
            <a:srgbClr val="FDE68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9" name="Text 137"/>
          <p:cNvSpPr/>
          <p:nvPr/>
        </p:nvSpPr>
        <p:spPr>
          <a:xfrm>
            <a:off x="3648456" y="4223821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850" dirty="0"/>
          </a:p>
        </p:txBody>
      </p:sp>
      <p:sp>
        <p:nvSpPr>
          <p:cNvPr id="140" name="Shape 138"/>
          <p:cNvSpPr/>
          <p:nvPr/>
        </p:nvSpPr>
        <p:spPr>
          <a:xfrm>
            <a:off x="4251960" y="4223821"/>
            <a:ext cx="566928" cy="548640"/>
          </a:xfrm>
          <a:prstGeom prst="rect">
            <a:avLst/>
          </a:prstGeom>
          <a:solidFill>
            <a:srgbClr val="FDE68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1" name="Text 139"/>
          <p:cNvSpPr/>
          <p:nvPr/>
        </p:nvSpPr>
        <p:spPr>
          <a:xfrm>
            <a:off x="4251960" y="4223821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850" dirty="0"/>
          </a:p>
        </p:txBody>
      </p:sp>
      <p:sp>
        <p:nvSpPr>
          <p:cNvPr id="142" name="Shape 140"/>
          <p:cNvSpPr/>
          <p:nvPr/>
        </p:nvSpPr>
        <p:spPr>
          <a:xfrm>
            <a:off x="4855464" y="4223821"/>
            <a:ext cx="566928" cy="548640"/>
          </a:xfrm>
          <a:prstGeom prst="rect">
            <a:avLst/>
          </a:prstGeom>
          <a:solidFill>
            <a:srgbClr val="FDE68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3" name="Text 141"/>
          <p:cNvSpPr/>
          <p:nvPr/>
        </p:nvSpPr>
        <p:spPr>
          <a:xfrm>
            <a:off x="4855464" y="4223821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850" dirty="0"/>
          </a:p>
        </p:txBody>
      </p:sp>
      <p:sp>
        <p:nvSpPr>
          <p:cNvPr id="144" name="Shape 142"/>
          <p:cNvSpPr/>
          <p:nvPr/>
        </p:nvSpPr>
        <p:spPr>
          <a:xfrm>
            <a:off x="5458968" y="4223821"/>
            <a:ext cx="566928" cy="548640"/>
          </a:xfrm>
          <a:prstGeom prst="rect">
            <a:avLst/>
          </a:prstGeom>
          <a:solidFill>
            <a:srgbClr val="FCA5A5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5" name="Text 143"/>
          <p:cNvSpPr/>
          <p:nvPr/>
        </p:nvSpPr>
        <p:spPr>
          <a:xfrm>
            <a:off x="5458968" y="4223821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850" dirty="0"/>
          </a:p>
        </p:txBody>
      </p:sp>
      <p:sp>
        <p:nvSpPr>
          <p:cNvPr id="146" name="Shape 144"/>
          <p:cNvSpPr/>
          <p:nvPr/>
        </p:nvSpPr>
        <p:spPr>
          <a:xfrm>
            <a:off x="6062472" y="4223821"/>
            <a:ext cx="566928" cy="548640"/>
          </a:xfrm>
          <a:prstGeom prst="rect">
            <a:avLst/>
          </a:prstGeom>
          <a:solidFill>
            <a:srgbClr val="FDE68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7" name="Text 145"/>
          <p:cNvSpPr/>
          <p:nvPr/>
        </p:nvSpPr>
        <p:spPr>
          <a:xfrm>
            <a:off x="6062472" y="4223821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850" dirty="0"/>
          </a:p>
        </p:txBody>
      </p:sp>
      <p:sp>
        <p:nvSpPr>
          <p:cNvPr id="148" name="Shape 146"/>
          <p:cNvSpPr/>
          <p:nvPr/>
        </p:nvSpPr>
        <p:spPr>
          <a:xfrm>
            <a:off x="6665976" y="4223821"/>
            <a:ext cx="566928" cy="548640"/>
          </a:xfrm>
          <a:prstGeom prst="rect">
            <a:avLst/>
          </a:prstGeom>
          <a:solidFill>
            <a:srgbClr val="FDE68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9" name="Text 147"/>
          <p:cNvSpPr/>
          <p:nvPr/>
        </p:nvSpPr>
        <p:spPr>
          <a:xfrm>
            <a:off x="6665976" y="4223821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850" dirty="0"/>
          </a:p>
        </p:txBody>
      </p:sp>
      <p:sp>
        <p:nvSpPr>
          <p:cNvPr id="150" name="Shape 148"/>
          <p:cNvSpPr/>
          <p:nvPr/>
        </p:nvSpPr>
        <p:spPr>
          <a:xfrm>
            <a:off x="7269480" y="4223821"/>
            <a:ext cx="566928" cy="548640"/>
          </a:xfrm>
          <a:prstGeom prst="rect">
            <a:avLst/>
          </a:prstGeom>
          <a:solidFill>
            <a:srgbClr val="FDE68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1" name="Text 149"/>
          <p:cNvSpPr/>
          <p:nvPr/>
        </p:nvSpPr>
        <p:spPr>
          <a:xfrm>
            <a:off x="7269480" y="4223821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850" dirty="0"/>
          </a:p>
        </p:txBody>
      </p:sp>
      <p:sp>
        <p:nvSpPr>
          <p:cNvPr id="152" name="Shape 150"/>
          <p:cNvSpPr/>
          <p:nvPr/>
        </p:nvSpPr>
        <p:spPr>
          <a:xfrm>
            <a:off x="7872984" y="4223821"/>
            <a:ext cx="566928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3" name="Text 151"/>
          <p:cNvSpPr/>
          <p:nvPr/>
        </p:nvSpPr>
        <p:spPr>
          <a:xfrm>
            <a:off x="7872984" y="4223821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154" name="Text 152"/>
          <p:cNvSpPr/>
          <p:nvPr/>
        </p:nvSpPr>
        <p:spPr>
          <a:xfrm>
            <a:off x="320040" y="548640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Legende :</a:t>
            </a:r>
            <a:endParaRPr lang="en-US" sz="1000" dirty="0"/>
          </a:p>
        </p:txBody>
      </p:sp>
      <p:sp>
        <p:nvSpPr>
          <p:cNvPr id="155" name="Shape 153"/>
          <p:cNvSpPr/>
          <p:nvPr/>
        </p:nvSpPr>
        <p:spPr>
          <a:xfrm>
            <a:off x="1097280" y="5504688"/>
            <a:ext cx="256032" cy="256032"/>
          </a:xfrm>
          <a:prstGeom prst="rect">
            <a:avLst/>
          </a:prstGeom>
          <a:solidFill>
            <a:srgbClr val="86EFA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6" name="Text 154"/>
          <p:cNvSpPr/>
          <p:nvPr/>
        </p:nvSpPr>
        <p:spPr>
          <a:xfrm>
            <a:off x="1389888" y="55046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85 %</a:t>
            </a:r>
            <a:endParaRPr lang="en-US" sz="1000" dirty="0"/>
          </a:p>
        </p:txBody>
      </p:sp>
      <p:sp>
        <p:nvSpPr>
          <p:cNvPr id="157" name="Shape 155"/>
          <p:cNvSpPr/>
          <p:nvPr/>
        </p:nvSpPr>
        <p:spPr>
          <a:xfrm>
            <a:off x="2834640" y="5504688"/>
            <a:ext cx="256032" cy="256032"/>
          </a:xfrm>
          <a:prstGeom prst="rect">
            <a:avLst/>
          </a:prstGeom>
          <a:solidFill>
            <a:srgbClr val="FDE68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8" name="Text 156"/>
          <p:cNvSpPr/>
          <p:nvPr/>
        </p:nvSpPr>
        <p:spPr>
          <a:xfrm>
            <a:off x="3127248" y="55046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60-85 %</a:t>
            </a:r>
            <a:endParaRPr lang="en-US" sz="1000" dirty="0"/>
          </a:p>
        </p:txBody>
      </p:sp>
      <p:sp>
        <p:nvSpPr>
          <p:cNvPr id="159" name="Shape 157"/>
          <p:cNvSpPr/>
          <p:nvPr/>
        </p:nvSpPr>
        <p:spPr>
          <a:xfrm>
            <a:off x="4572000" y="5504688"/>
            <a:ext cx="256032" cy="256032"/>
          </a:xfrm>
          <a:prstGeom prst="rect">
            <a:avLst/>
          </a:prstGeom>
          <a:solidFill>
            <a:srgbClr val="FCA5A5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0" name="Text 158"/>
          <p:cNvSpPr/>
          <p:nvPr/>
        </p:nvSpPr>
        <p:spPr>
          <a:xfrm>
            <a:off x="4864608" y="55046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60 %</a:t>
            </a:r>
            <a:endParaRPr lang="en-US" sz="1000" dirty="0"/>
          </a:p>
        </p:txBody>
      </p:sp>
      <p:sp>
        <p:nvSpPr>
          <p:cNvPr id="161" name="Shape 159"/>
          <p:cNvSpPr/>
          <p:nvPr/>
        </p:nvSpPr>
        <p:spPr>
          <a:xfrm>
            <a:off x="6309360" y="5504688"/>
            <a:ext cx="256032" cy="256032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2" name="Text 160"/>
          <p:cNvSpPr/>
          <p:nvPr/>
        </p:nvSpPr>
        <p:spPr>
          <a:xfrm>
            <a:off x="6601968" y="55046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Demandes de Conge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040880" y="2011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de validation en 3 etapes — du terrain jusqu'a l'approbation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280160"/>
            <a:ext cx="2423160" cy="210312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25400">
            <a:solidFill>
              <a:srgbClr val="0F766E"/>
            </a:solidFill>
            <a:prstDash val="solid"/>
          </a:ln>
          <a:effectLst>
            <a:outerShdw blurRad="635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1444752" y="1417320"/>
            <a:ext cx="640080" cy="6400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1444752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85800" y="217627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2578608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L'ASV saisit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periode souhaitee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035808" y="2084832"/>
            <a:ext cx="365760" cy="347472"/>
          </a:xfrm>
          <a:prstGeom prst="rightArrow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3291840" y="1280160"/>
            <a:ext cx="2423160" cy="210312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  <a:effectLst>
            <a:outerShdw blurRad="635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4187952" y="1417320"/>
            <a:ext cx="640080" cy="64008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187952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429000" y="217627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429000" y="2578608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 rouge sur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l'onglet Demandes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779008" y="2084832"/>
            <a:ext cx="365760" cy="347472"/>
          </a:xfrm>
          <a:prstGeom prst="rightArrow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6035040" y="1280160"/>
            <a:ext cx="2423160" cy="210312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25400">
            <a:solidFill>
              <a:srgbClr val="6D28D9"/>
            </a:solidFill>
            <a:prstDash val="solid"/>
          </a:ln>
          <a:effectLst>
            <a:outerShdw blurRad="635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6931152" y="1417320"/>
            <a:ext cx="640080" cy="64008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6931152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172200" y="217627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172200" y="2578608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approuve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refuse avec motif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35661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Demandes recentes :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4005072"/>
            <a:ext cx="8229600" cy="585216"/>
          </a:xfrm>
          <a:prstGeom prst="roundRect">
            <a:avLst>
              <a:gd name="adj" fmla="val 15625"/>
            </a:avLst>
          </a:prstGeom>
          <a:solidFill>
            <a:srgbClr val="FEF9E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658368" y="4005072"/>
            <a:ext cx="1097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828800" y="4005072"/>
            <a:ext cx="2286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14-18 juil.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858000" y="4151376"/>
            <a:ext cx="1554480" cy="292608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6858000" y="415137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attente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4718304"/>
            <a:ext cx="8229600" cy="585216"/>
          </a:xfrm>
          <a:prstGeom prst="roundRect">
            <a:avLst>
              <a:gd name="adj" fmla="val 15625"/>
            </a:avLst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658368" y="4718304"/>
            <a:ext cx="1097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828800" y="4718304"/>
            <a:ext cx="2286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1-5 sept.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858000" y="4864608"/>
            <a:ext cx="1554480" cy="292608"/>
          </a:xfrm>
          <a:prstGeom prst="roundRect">
            <a:avLst>
              <a:gd name="adj" fmla="val 25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6858000" y="486460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Approuve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5431536"/>
            <a:ext cx="8229600" cy="585216"/>
          </a:xfrm>
          <a:prstGeom prst="roundRect">
            <a:avLst>
              <a:gd name="adj" fmla="val 15625"/>
            </a:avLst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658368" y="5431536"/>
            <a:ext cx="1097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Johanna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828800" y="5431536"/>
            <a:ext cx="2286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aout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858000" y="5577840"/>
            <a:ext cx="1554480" cy="292608"/>
          </a:xfrm>
          <a:prstGeom prst="roundRect">
            <a:avLst>
              <a:gd name="adj" fmla="val 25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6858000" y="55778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47472" y="36576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</a:t>
            </a:r>
            <a:endParaRPr lang="en-US" sz="3200" dirty="0"/>
          </a:p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Electronique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371600" y="1901952"/>
            <a:ext cx="1143000" cy="841248"/>
          </a:xfrm>
          <a:prstGeom prst="roundRect">
            <a:avLst>
              <a:gd name="adj" fmla="val 13043"/>
            </a:avLst>
          </a:prstGeom>
          <a:solidFill>
            <a:srgbClr val="334155"/>
          </a:solidFill>
          <a:ln w="254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1572768" y="1554480"/>
            <a:ext cx="731520" cy="594360"/>
          </a:xfrm>
          <a:prstGeom prst="ellipse">
            <a:avLst/>
          </a:prstGeom>
          <a:solidFill>
            <a:srgbClr val="0F766E"/>
          </a:solidFill>
          <a:ln w="317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1828800" y="2176272"/>
            <a:ext cx="201168" cy="20116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47472" y="2990088"/>
            <a:ext cx="164592" cy="16459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594360" y="292608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numerique par nom complet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7472" y="3557016"/>
            <a:ext cx="164592" cy="16459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594360" y="3493008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Verrouillage irreversible du mois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47472" y="4123944"/>
            <a:ext cx="164592" cy="16459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594360" y="4059936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Calendrier ASV en lecture seule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47472" y="4690872"/>
            <a:ext cx="164592" cy="16459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594360" y="4626864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Horodatage Supabase (timestamptz)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47472" y="5257800"/>
            <a:ext cx="164592" cy="16459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594360" y="519379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imprimable generee automatiquement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47472" y="5824728"/>
            <a:ext cx="164592" cy="16459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594360" y="576072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PDF pour archivage RH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114800" y="347472"/>
            <a:ext cx="466344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4251960" y="475488"/>
            <a:ext cx="1097280" cy="502920"/>
          </a:xfrm>
          <a:prstGeom prst="roundRect">
            <a:avLst>
              <a:gd name="adj" fmla="val 18182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251960" y="47548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Juin 2026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0" y="47548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Marie — Non signe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251960" y="1078992"/>
            <a:ext cx="4251960" cy="502920"/>
          </a:xfrm>
          <a:prstGeom prst="roundRect">
            <a:avLst>
              <a:gd name="adj" fmla="val 18182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4251960" y="1078992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Signer ma feuille de presence  ✍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17920" y="1847088"/>
            <a:ext cx="457200" cy="411480"/>
          </a:xfrm>
          <a:prstGeom prst="downArrow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4114800" y="2331720"/>
            <a:ext cx="4663440" cy="190195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25400">
            <a:solidFill>
              <a:srgbClr val="0F766E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4297680" y="242316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Confirmer la signature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297680" y="285292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nom complet :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297680" y="3154680"/>
            <a:ext cx="4297680" cy="384048"/>
          </a:xfrm>
          <a:prstGeom prst="roundRect">
            <a:avLst>
              <a:gd name="adj" fmla="val 1904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4434840" y="315468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Marie Dupont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297680" y="3639312"/>
            <a:ext cx="4297680" cy="384048"/>
          </a:xfrm>
          <a:prstGeom prst="roundRect">
            <a:avLst>
              <a:gd name="adj" fmla="val 2381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4297680" y="363931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Confirmer et verrouiller ce mois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217920" y="4315968"/>
            <a:ext cx="457200" cy="411480"/>
          </a:xfrm>
          <a:prstGeom prst="downArrow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4114800" y="4800600"/>
            <a:ext cx="4663440" cy="1371600"/>
          </a:xfrm>
          <a:prstGeom prst="roundRect">
            <a:avLst>
              <a:gd name="adj" fmla="val 9333"/>
            </a:avLst>
          </a:prstGeom>
          <a:solidFill>
            <a:srgbClr val="F0FDF4"/>
          </a:solidFill>
          <a:ln w="25400">
            <a:solidFill>
              <a:srgbClr val="16A34A"/>
            </a:solidFill>
            <a:prstDash val="solid"/>
          </a:ln>
          <a:effectLst>
            <a:outerShdw blurRad="635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4251960" y="4937760"/>
            <a:ext cx="1097280" cy="502920"/>
          </a:xfrm>
          <a:prstGeom prst="roundRect">
            <a:avLst>
              <a:gd name="adj" fmla="val 18182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4251960" y="49377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Juin 2026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486400" y="49377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Marie — Signe le 30/06/2026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251960" y="5532120"/>
            <a:ext cx="4251960" cy="502920"/>
          </a:xfrm>
          <a:prstGeom prst="roundRect">
            <a:avLst>
              <a:gd name="adj" fmla="val 1818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4251960" y="5532120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Calendrier verrouille — lecture seule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vues centralisees — toutes les donnees RH au meme endroit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481328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🩺 Suivi vets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11680" y="1234440"/>
            <a:ext cx="1481328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011680" y="1234440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🐾 Suivi ASV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66160" y="1234440"/>
            <a:ext cx="1481328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3566160" y="1234440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Conges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120640" y="1234440"/>
            <a:ext cx="1481328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5120640" y="1234440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 Signatures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675120" y="1234440"/>
            <a:ext cx="1481328" cy="475488"/>
          </a:xfrm>
          <a:prstGeom prst="roundRect">
            <a:avLst>
              <a:gd name="adj" fmla="val 15385"/>
            </a:avLst>
          </a:prstGeom>
          <a:solidFill>
            <a:srgbClr val="DC2626"/>
          </a:solidFill>
          <a:ln w="254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6675120" y="1234440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Entretiens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675120" y="1645920"/>
            <a:ext cx="1481328" cy="91440"/>
          </a:xfrm>
          <a:prstGeom prst="roundRect">
            <a:avLst>
              <a:gd name="adj" fmla="val 40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7516368" y="1170432"/>
            <a:ext cx="594360" cy="228600"/>
          </a:xfrm>
          <a:prstGeom prst="roundRect">
            <a:avLst>
              <a:gd name="adj" fmla="val 24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7516368" y="11704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NOUVEAU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411480" y="1810512"/>
            <a:ext cx="2697480" cy="2029968"/>
          </a:xfrm>
          <a:prstGeom prst="roundRect">
            <a:avLst>
              <a:gd name="adj" fmla="val 7207"/>
            </a:avLst>
          </a:prstGeom>
          <a:solidFill>
            <a:srgbClr val="FFFFFF"/>
          </a:solidFill>
          <a:ln w="25400">
            <a:solidFill>
              <a:srgbClr val="0F766E"/>
            </a:solidFill>
            <a:prstDash val="solid"/>
          </a:ln>
          <a:effectLst>
            <a:outerShdw blurRad="635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411480" y="1810512"/>
            <a:ext cx="2697480" cy="640080"/>
          </a:xfrm>
          <a:prstGeom prst="roundRect">
            <a:avLst>
              <a:gd name="adj" fmla="val 22857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411480" y="2212848"/>
            <a:ext cx="2697480" cy="23774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521208" y="1810512"/>
            <a:ext cx="2532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🩺 Suivi Veterinaires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2648" y="2651760"/>
            <a:ext cx="109728" cy="10972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795528" y="25420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Jours travailles vs prevus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2648" y="3054096"/>
            <a:ext cx="109728" cy="10972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795528" y="29443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presence mensuel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2648" y="3456432"/>
            <a:ext cx="109728" cy="10972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795528" y="33467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Absences par motif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46120" y="1810512"/>
            <a:ext cx="2697480" cy="2029968"/>
          </a:xfrm>
          <a:prstGeom prst="roundRect">
            <a:avLst>
              <a:gd name="adj" fmla="val 7207"/>
            </a:avLst>
          </a:prstGeom>
          <a:solidFill>
            <a:srgbClr val="FFFFFF"/>
          </a:solidFill>
          <a:ln w="25400">
            <a:solidFill>
              <a:srgbClr val="0369A1"/>
            </a:solidFill>
            <a:prstDash val="solid"/>
          </a:ln>
          <a:effectLst>
            <a:outerShdw blurRad="635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3246120" y="1810512"/>
            <a:ext cx="2697480" cy="640080"/>
          </a:xfrm>
          <a:prstGeom prst="roundRect">
            <a:avLst>
              <a:gd name="adj" fmla="val 22857"/>
            </a:avLst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3246120" y="2212848"/>
            <a:ext cx="2697480" cy="237744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3355848" y="1810512"/>
            <a:ext cx="2532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🐾 Suivi ASV 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447288" y="2651760"/>
            <a:ext cx="109728" cy="109728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3630168" y="25420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 annuel par personne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447288" y="3054096"/>
            <a:ext cx="109728" cy="109728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3630168" y="29443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partiel (timerFraction)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447288" y="3456432"/>
            <a:ext cx="109728" cy="109728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3630168" y="33467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Heures supplementaires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080760" y="1810512"/>
            <a:ext cx="2697480" cy="2029968"/>
          </a:xfrm>
          <a:prstGeom prst="roundRect">
            <a:avLst>
              <a:gd name="adj" fmla="val 7207"/>
            </a:avLst>
          </a:prstGeom>
          <a:solidFill>
            <a:srgbClr val="FFFFFF"/>
          </a:solidFill>
          <a:ln w="25400">
            <a:solidFill>
              <a:srgbClr val="F97316"/>
            </a:solidFill>
            <a:prstDash val="solid"/>
          </a:ln>
          <a:effectLst>
            <a:outerShdw blurRad="635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8" name="Shape 36"/>
          <p:cNvSpPr/>
          <p:nvPr/>
        </p:nvSpPr>
        <p:spPr>
          <a:xfrm>
            <a:off x="6080760" y="1810512"/>
            <a:ext cx="2697480" cy="640080"/>
          </a:xfrm>
          <a:prstGeom prst="roundRect">
            <a:avLst>
              <a:gd name="adj" fmla="val 22857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Shape 37"/>
          <p:cNvSpPr/>
          <p:nvPr/>
        </p:nvSpPr>
        <p:spPr>
          <a:xfrm>
            <a:off x="6080760" y="2212848"/>
            <a:ext cx="2697480" cy="23774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6190488" y="1810512"/>
            <a:ext cx="2532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Demandes de Conge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281928" y="2651760"/>
            <a:ext cx="109728" cy="1097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6464808" y="25420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d'attente avec badge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281928" y="3054096"/>
            <a:ext cx="109728" cy="1097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6464808" y="29443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Approbation / refus admin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281928" y="3456432"/>
            <a:ext cx="109728" cy="1097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6" name="Text 44"/>
          <p:cNvSpPr/>
          <p:nvPr/>
        </p:nvSpPr>
        <p:spPr>
          <a:xfrm>
            <a:off x="6464808" y="33467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par personne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11480" y="3977640"/>
            <a:ext cx="2697480" cy="2029968"/>
          </a:xfrm>
          <a:prstGeom prst="roundRect">
            <a:avLst>
              <a:gd name="adj" fmla="val 7207"/>
            </a:avLst>
          </a:prstGeom>
          <a:solidFill>
            <a:srgbClr val="FFFFFF"/>
          </a:solidFill>
          <a:ln w="25400">
            <a:solidFill>
              <a:srgbClr val="6D28D9"/>
            </a:solidFill>
            <a:prstDash val="solid"/>
          </a:ln>
          <a:effectLst>
            <a:outerShdw blurRad="635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8" name="Shape 46"/>
          <p:cNvSpPr/>
          <p:nvPr/>
        </p:nvSpPr>
        <p:spPr>
          <a:xfrm>
            <a:off x="411480" y="3977640"/>
            <a:ext cx="2697480" cy="640080"/>
          </a:xfrm>
          <a:prstGeom prst="roundRect">
            <a:avLst>
              <a:gd name="adj" fmla="val 22857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9" name="Shape 47"/>
          <p:cNvSpPr/>
          <p:nvPr/>
        </p:nvSpPr>
        <p:spPr>
          <a:xfrm>
            <a:off x="411480" y="4379976"/>
            <a:ext cx="2697480" cy="237744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" name="Text 48"/>
          <p:cNvSpPr/>
          <p:nvPr/>
        </p:nvSpPr>
        <p:spPr>
          <a:xfrm>
            <a:off x="521208" y="3977640"/>
            <a:ext cx="2532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 Feuilles Signees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612648" y="4818888"/>
            <a:ext cx="109728" cy="10972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2" name="Text 50"/>
          <p:cNvSpPr/>
          <p:nvPr/>
        </p:nvSpPr>
        <p:spPr>
          <a:xfrm>
            <a:off x="795528" y="4709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Etat de signature par mois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12648" y="5221224"/>
            <a:ext cx="109728" cy="10972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4" name="Text 52"/>
          <p:cNvSpPr/>
          <p:nvPr/>
        </p:nvSpPr>
        <p:spPr>
          <a:xfrm>
            <a:off x="795528" y="511149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 lecture seule post-sign.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612648" y="5623560"/>
            <a:ext cx="109728" cy="10972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6" name="Text 54"/>
          <p:cNvSpPr/>
          <p:nvPr/>
        </p:nvSpPr>
        <p:spPr>
          <a:xfrm>
            <a:off x="795528" y="55138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horodatage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3246120" y="3977640"/>
            <a:ext cx="2697480" cy="2029968"/>
          </a:xfrm>
          <a:prstGeom prst="roundRect">
            <a:avLst>
              <a:gd name="adj" fmla="val 7207"/>
            </a:avLst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  <a:effectLst>
            <a:outerShdw blurRad="635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8" name="Shape 56"/>
          <p:cNvSpPr/>
          <p:nvPr/>
        </p:nvSpPr>
        <p:spPr>
          <a:xfrm>
            <a:off x="3246120" y="3977640"/>
            <a:ext cx="2697480" cy="640080"/>
          </a:xfrm>
          <a:prstGeom prst="roundRect">
            <a:avLst>
              <a:gd name="adj" fmla="val 2285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9" name="Shape 57"/>
          <p:cNvSpPr/>
          <p:nvPr/>
        </p:nvSpPr>
        <p:spPr>
          <a:xfrm>
            <a:off x="3246120" y="4379976"/>
            <a:ext cx="2697480" cy="23774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0" name="Text 58"/>
          <p:cNvSpPr/>
          <p:nvPr/>
        </p:nvSpPr>
        <p:spPr>
          <a:xfrm>
            <a:off x="3355848" y="3977640"/>
            <a:ext cx="2532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Entretiens Annuels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3447288" y="4818888"/>
            <a:ext cx="109728" cy="1097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2" name="Text 60"/>
          <p:cNvSpPr/>
          <p:nvPr/>
        </p:nvSpPr>
        <p:spPr>
          <a:xfrm>
            <a:off x="3630168" y="4709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 par employe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3447288" y="5221224"/>
            <a:ext cx="109728" cy="1097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4" name="Text 62"/>
          <p:cNvSpPr/>
          <p:nvPr/>
        </p:nvSpPr>
        <p:spPr>
          <a:xfrm>
            <a:off x="3630168" y="511149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/5 + objectifs N-1/N+1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3447288" y="5623560"/>
            <a:ext cx="109728" cy="1097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6" name="Text 64"/>
          <p:cNvSpPr/>
          <p:nvPr/>
        </p:nvSpPr>
        <p:spPr>
          <a:xfrm>
            <a:off x="3630168" y="55138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 Supabase instant.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5120640" y="4050792"/>
            <a:ext cx="658368" cy="237744"/>
          </a:xfrm>
          <a:prstGeom prst="roundRect">
            <a:avLst>
              <a:gd name="adj" fmla="val 2307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8" name="Text 66"/>
          <p:cNvSpPr/>
          <p:nvPr/>
        </p:nvSpPr>
        <p:spPr>
          <a:xfrm>
            <a:off x="5120640" y="4050792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NOUVEAU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Entretiens Annuels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E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complete des entretiens individuels — notation, objectifs, historique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589520" y="164592"/>
            <a:ext cx="1234440" cy="411480"/>
          </a:xfrm>
          <a:prstGeom prst="roundRect">
            <a:avLst>
              <a:gd name="adj" fmla="val 2222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7589520" y="16459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NOUVEAU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84048" y="126187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84048" y="1261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126187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 individuelle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" y="1536192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fiche par employe avec historique complet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84048" y="192024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84048" y="1920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192024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77240" y="2194560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attente · Planifie · Realise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84048" y="257860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384048" y="2578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" y="257860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 /5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77240" y="2852928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Systeme d'etoiles interactif cliquable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84048" y="323697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384048" y="32369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" y="323697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N-1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77240" y="3511296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des objectifs de l'annee passee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84048" y="38953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384048" y="38953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77240" y="389534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N+1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77240" y="4169664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des objectifs pour l'annee suivante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84048" y="455371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384048" y="45537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77240" y="455371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 cloud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77240" y="4828032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— table annual_interviews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572000" y="1170432"/>
            <a:ext cx="4251960" cy="5440680"/>
          </a:xfrm>
          <a:prstGeom prst="roundRect">
            <a:avLst>
              <a:gd name="adj" fmla="val 3871"/>
            </a:avLst>
          </a:prstGeom>
          <a:solidFill>
            <a:srgbClr val="FFF8F8"/>
          </a:solidFill>
          <a:ln w="25400">
            <a:solidFill>
              <a:srgbClr val="DC2626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4572000" y="1170432"/>
            <a:ext cx="4251960" cy="777240"/>
          </a:xfrm>
          <a:prstGeom prst="roundRect">
            <a:avLst>
              <a:gd name="adj" fmla="val 21176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4572000" y="1719072"/>
            <a:ext cx="4251960" cy="2286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4709160" y="1261872"/>
            <a:ext cx="566928" cy="566928"/>
          </a:xfrm>
          <a:prstGeom prst="ellipse">
            <a:avLst/>
          </a:prstGeom>
          <a:solidFill>
            <a:srgbClr val="4ADE80"/>
          </a:solidFill>
          <a:ln w="190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4709160" y="12618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376672" y="12801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Marie Dupont — Entretien 2026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376672" y="16002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E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Auxiliaire Veterinaire — Temps plein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754880" y="21031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 :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596128" y="2103120"/>
            <a:ext cx="1005840" cy="320040"/>
          </a:xfrm>
          <a:prstGeom prst="roundRect">
            <a:avLst>
              <a:gd name="adj" fmla="val 28571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5596128" y="21031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720840" y="2103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: 15/03/2026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754880" y="252374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 :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897880" y="252374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Maquinay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754880" y="29260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globale :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053328" y="288950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★★★★☆  4 / 5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4754880" y="33832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N-1 (bilan)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754880" y="3675888"/>
            <a:ext cx="38862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Text 46"/>
          <p:cNvSpPr/>
          <p:nvPr/>
        </p:nvSpPr>
        <p:spPr>
          <a:xfrm>
            <a:off x="4846320" y="3675888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bon accueil clients.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Maitrise des outils informatiques.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 notable en radiologie.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4754880" y="45262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N+1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754880" y="4818888"/>
            <a:ext cx="38862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" name="Text 49"/>
          <p:cNvSpPr/>
          <p:nvPr/>
        </p:nvSpPr>
        <p:spPr>
          <a:xfrm>
            <a:off x="4846320" y="4818888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radiologie avancee.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Prise en charge triage d'urgence.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Tutorat nouveaux employes.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754880" y="6108192"/>
            <a:ext cx="3886200" cy="384048"/>
          </a:xfrm>
          <a:prstGeom prst="roundRect">
            <a:avLst>
              <a:gd name="adj" fmla="val 2381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3" name="Text 51"/>
          <p:cNvSpPr/>
          <p:nvPr/>
        </p:nvSpPr>
        <p:spPr>
          <a:xfrm>
            <a:off x="4754880" y="6108192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Enregistrer la fiche entretien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F0FDF9"/>
          </a:solidFill>
          <a:ln w="12700">
            <a:solidFill>
              <a:srgbClr val="F0FDF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1645920" y="320040"/>
            <a:ext cx="1280160" cy="12801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1645920" y="3200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🗓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20040" y="173736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Synchronisation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Calendrier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269748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· Android · Google · Outlook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3255264"/>
            <a:ext cx="182880" cy="1828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731520" y="31546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ICS standard (RFC 5545)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803904"/>
            <a:ext cx="182880" cy="1828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731520" y="37033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Abonnement URL — mise a jour auto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4352544"/>
            <a:ext cx="182880" cy="1828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731520" y="42519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lien par personne ou global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901184"/>
            <a:ext cx="182880" cy="1828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731520" y="48006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Compatible toutes les apps calendrier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47472" y="5468112"/>
            <a:ext cx="3886200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9050">
            <a:solidFill>
              <a:srgbClr val="0F766E"/>
            </a:solidFill>
            <a:prstDash val="solid"/>
          </a:ln>
          <a:effectLst>
            <a:outerShdw blurRad="635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347472" y="5468112"/>
            <a:ext cx="3886200" cy="365760"/>
          </a:xfrm>
          <a:prstGeom prst="roundRect">
            <a:avLst>
              <a:gd name="adj" fmla="val 3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347472" y="5687568"/>
            <a:ext cx="3886200" cy="1554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457200" y="54681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calendrier-amivet.ics — Marie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587044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VEVENT: Presente · VEVENT: Formation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DTSTART:20260615 · DTEND:20260616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217920" y="320040"/>
            <a:ext cx="1280160" cy="128016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6217920" y="3200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📧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4663440" y="1737360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Automatiques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663440" y="269748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Edge Functions — RESEND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00600" y="3255264"/>
            <a:ext cx="182880" cy="18288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5074920" y="31546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mensuel des presences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00600" y="3803904"/>
            <a:ext cx="182880" cy="18288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5074920" y="37033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demande de conge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00600" y="4352544"/>
            <a:ext cx="182880" cy="18288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5074920" y="42519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 heures supplementaires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800600" y="4901184"/>
            <a:ext cx="182880" cy="18288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5074920" y="48006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de signature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663440" y="5468112"/>
            <a:ext cx="4160520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9050">
            <a:solidFill>
              <a:srgbClr val="6D28D9"/>
            </a:solidFill>
            <a:prstDash val="solid"/>
          </a:ln>
          <a:effectLst>
            <a:outerShdw blurRad="635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4663440" y="5468112"/>
            <a:ext cx="4160520" cy="365760"/>
          </a:xfrm>
          <a:prstGeom prst="roundRect">
            <a:avLst>
              <a:gd name="adj" fmla="val 30000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4663440" y="5687568"/>
            <a:ext cx="4160520" cy="15544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4773168" y="546811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Juin 2026 — Marie Dupont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773168" y="587044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Jours travailles : 22/22 | Absences : 0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Heures sup : 00h30 | Signature : OK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Securite &amp; Gestion des Acces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differencies · Mot de passe hash · Verrouillage automatique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84048" y="1261872"/>
            <a:ext cx="2697480" cy="4919472"/>
          </a:xfrm>
          <a:prstGeom prst="roundRect">
            <a:avLst>
              <a:gd name="adj" fmla="val 6102"/>
            </a:avLst>
          </a:prstGeom>
          <a:solidFill>
            <a:srgbClr val="FEF2F2"/>
          </a:solidFill>
          <a:ln w="25400">
            <a:solidFill>
              <a:srgbClr val="DC2626"/>
            </a:solidFill>
            <a:prstDash val="solid"/>
          </a:ln>
          <a:effectLst>
            <a:outerShdw blurRad="635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384048" y="1261872"/>
            <a:ext cx="2697480" cy="804672"/>
          </a:xfrm>
          <a:prstGeom prst="roundRect">
            <a:avLst>
              <a:gd name="adj" fmla="val 20455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84048" y="1828800"/>
            <a:ext cx="2697480" cy="23774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93776" y="1280160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Admin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2648" y="2304288"/>
            <a:ext cx="137160" cy="13716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822960" y="2176272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 complet a tout le planning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" y="2944368"/>
            <a:ext cx="137160" cy="13716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822960" y="2816352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Approbation des demandes de conge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" y="3584448"/>
            <a:ext cx="137160" cy="13716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822960" y="3456432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entretiens annuels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" y="4224528"/>
            <a:ext cx="137160" cy="13716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822960" y="4096512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Impersonation ASV (vue debug)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" y="4864608"/>
            <a:ext cx="137160" cy="13716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822960" y="4736592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Parametres &amp; configuration app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18688" y="1261872"/>
            <a:ext cx="2697480" cy="4919472"/>
          </a:xfrm>
          <a:prstGeom prst="roundRect">
            <a:avLst>
              <a:gd name="adj" fmla="val 6102"/>
            </a:avLst>
          </a:prstGeom>
          <a:solidFill>
            <a:srgbClr val="F0FDF9"/>
          </a:solidFill>
          <a:ln w="25400">
            <a:solidFill>
              <a:srgbClr val="0F766E"/>
            </a:solidFill>
            <a:prstDash val="solid"/>
          </a:ln>
          <a:effectLst>
            <a:outerShdw blurRad="635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3218688" y="1261872"/>
            <a:ext cx="2697480" cy="804672"/>
          </a:xfrm>
          <a:prstGeom prst="roundRect">
            <a:avLst>
              <a:gd name="adj" fmla="val 20455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3218688" y="1828800"/>
            <a:ext cx="2697480" cy="23774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3328416" y="1280160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🩺 Veterinaire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3447288" y="2304288"/>
            <a:ext cx="137160" cy="1371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3657600" y="2176272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Calendrier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vet. en lecture/ecriture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447288" y="2944368"/>
            <a:ext cx="137160" cy="1371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3657600" y="2816352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annuelle et previsionnelle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47288" y="3584448"/>
            <a:ext cx="137160" cy="1371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3657600" y="3456432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complet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447288" y="4224528"/>
            <a:ext cx="137160" cy="1371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3657600" y="4096512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 </a:t>
            </a:r>
            <a:r>
              <a:rPr lang="en-US" sz="11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lecture &amp; modification planning ASV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447288" y="4864608"/>
            <a:ext cx="137160" cy="1371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3657600" y="4736592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entre onglets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053328" y="1261872"/>
            <a:ext cx="2697480" cy="4919472"/>
          </a:xfrm>
          <a:prstGeom prst="roundRect">
            <a:avLst>
              <a:gd name="adj" fmla="val 6102"/>
            </a:avLst>
          </a:prstGeom>
          <a:solidFill>
            <a:srgbClr val="EFF6FF"/>
          </a:solidFill>
          <a:ln w="25400">
            <a:solidFill>
              <a:srgbClr val="0369A1"/>
            </a:solidFill>
            <a:prstDash val="solid"/>
          </a:ln>
          <a:effectLst>
            <a:outerShdw blurRad="635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6053328" y="1261872"/>
            <a:ext cx="2697480" cy="804672"/>
          </a:xfrm>
          <a:prstGeom prst="roundRect">
            <a:avLst>
              <a:gd name="adj" fmla="val 20455"/>
            </a:avLst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6053328" y="1828800"/>
            <a:ext cx="2697480" cy="237744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6163056" y="1280160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🐾 ASV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6281928" y="2304288"/>
            <a:ext cx="137160" cy="137160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6492240" y="2176272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propre calendrier uniquement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281928" y="2944368"/>
            <a:ext cx="137160" cy="137160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6492240" y="2816352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hebdomadaire personnelle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281928" y="3584448"/>
            <a:ext cx="137160" cy="137160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6492240" y="3456432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 de conge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281928" y="4224528"/>
            <a:ext cx="137160" cy="137160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6492240" y="4096512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mensuelle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281928" y="4864608"/>
            <a:ext cx="137160" cy="137160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Text 43"/>
          <p:cNvSpPr/>
          <p:nvPr/>
        </p:nvSpPr>
        <p:spPr>
          <a:xfrm>
            <a:off x="6492240" y="4736592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seule apres signature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84048" y="6291072"/>
            <a:ext cx="2697480" cy="41148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493776" y="6291072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Hash Supabase — Mot de passe stocke en SHA-256 cote serveur — jamais en clair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218688" y="6291072"/>
            <a:ext cx="2697480" cy="41148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9" name="Text 47"/>
          <p:cNvSpPr/>
          <p:nvPr/>
        </p:nvSpPr>
        <p:spPr>
          <a:xfrm>
            <a:off x="3328416" y="6291072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Auto-lock 30min — Session expiree apres 30 minutes d'inactivite — reconnexion requise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053328" y="6291072"/>
            <a:ext cx="2697480" cy="41148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1" name="Text 49"/>
          <p:cNvSpPr/>
          <p:nvPr/>
        </p:nvSpPr>
        <p:spPr>
          <a:xfrm>
            <a:off x="6163056" y="6291072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Cle anon publique — Protection legere adaptee a un usage intranet clinique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Technique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monopage · Supabase backend · Zero infrastructure a maintenir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1115568"/>
            <a:ext cx="2788920" cy="4389120"/>
          </a:xfrm>
          <a:prstGeom prst="roundRect">
            <a:avLst>
              <a:gd name="adj" fmla="val 5246"/>
            </a:avLst>
          </a:prstGeom>
          <a:solidFill>
            <a:srgbClr val="F8FAFC"/>
          </a:solidFill>
          <a:ln w="25400">
            <a:solidFill>
              <a:srgbClr val="0F766E"/>
            </a:solidFill>
            <a:prstDash val="solid"/>
          </a:ln>
          <a:effectLst>
            <a:outerShdw blurRad="635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47472" y="1115568"/>
            <a:ext cx="2788920" cy="566928"/>
          </a:xfrm>
          <a:prstGeom prst="roundRect">
            <a:avLst>
              <a:gd name="adj" fmla="val 25806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47472" y="1481328"/>
            <a:ext cx="2788920" cy="20116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57200" y="111556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011680"/>
            <a:ext cx="137160" cy="1371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768096" y="1828800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+ CSS + JS vanille (~5461 lignes)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743200"/>
            <a:ext cx="137160" cy="1371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768096" y="2560320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monopage (SPA) — aucun framework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474720"/>
            <a:ext cx="137160" cy="1371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768096" y="3291840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mobile/tablette/desktop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4206240"/>
            <a:ext cx="137160" cy="1371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768096" y="4023360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Impression CSS integree (vue ASV)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73552" y="1115568"/>
            <a:ext cx="2788920" cy="4389120"/>
          </a:xfrm>
          <a:prstGeom prst="roundRect">
            <a:avLst>
              <a:gd name="adj" fmla="val 5246"/>
            </a:avLst>
          </a:prstGeom>
          <a:solidFill>
            <a:srgbClr val="F8FAFC"/>
          </a:solidFill>
          <a:ln w="25400">
            <a:solidFill>
              <a:srgbClr val="6D28D9"/>
            </a:solidFill>
            <a:prstDash val="solid"/>
          </a:ln>
          <a:effectLst>
            <a:outerShdw blurRad="635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3273552" y="1115568"/>
            <a:ext cx="2788920" cy="566928"/>
          </a:xfrm>
          <a:prstGeom prst="roundRect">
            <a:avLst>
              <a:gd name="adj" fmla="val 25806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3273552" y="1481328"/>
            <a:ext cx="2788920" cy="20116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3383280" y="111556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0" y="2011680"/>
            <a:ext cx="137160" cy="13716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3694176" y="1828800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(PostgreSQL)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474720" y="2743200"/>
            <a:ext cx="137160" cy="13716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3694176" y="2560320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tables : planning_data, monthly_signatures, annual_interviews, calendar_sync, email_settings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474720" y="3474720"/>
            <a:ext cx="137160" cy="13716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3694176" y="3291840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Level Security (RLS) permissif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474720" y="4206240"/>
            <a:ext cx="137160" cy="13716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3694176" y="4023360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Functions pour emails (Resend)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199632" y="1115568"/>
            <a:ext cx="2788920" cy="4389120"/>
          </a:xfrm>
          <a:prstGeom prst="roundRect">
            <a:avLst>
              <a:gd name="adj" fmla="val 5246"/>
            </a:avLst>
          </a:prstGeom>
          <a:solidFill>
            <a:srgbClr val="F8FAFC"/>
          </a:solidFill>
          <a:ln w="25400">
            <a:solidFill>
              <a:srgbClr val="F97316"/>
            </a:solidFill>
            <a:prstDash val="solid"/>
          </a:ln>
          <a:effectLst>
            <a:outerShdw blurRad="635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6199632" y="1115568"/>
            <a:ext cx="2788920" cy="566928"/>
          </a:xfrm>
          <a:prstGeom prst="roundRect">
            <a:avLst>
              <a:gd name="adj" fmla="val 25806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6199632" y="1481328"/>
            <a:ext cx="2788920" cy="2011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6309360" y="111556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400800" y="2011680"/>
            <a:ext cx="137160" cy="1371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6620256" y="1828800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ICS calendrier (RFC 5545)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400800" y="2743200"/>
            <a:ext cx="137160" cy="1371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6620256" y="2560320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 automatiques via Resend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400800" y="3474720"/>
            <a:ext cx="137160" cy="1371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6620256" y="3291840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Hebergement GitHub Pages (gratuit)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400800" y="4206240"/>
            <a:ext cx="137160" cy="1371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6620256" y="4023360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 JSON import/export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65760" y="5650992"/>
            <a:ext cx="2011680" cy="987552"/>
          </a:xfrm>
          <a:prstGeom prst="roundRect">
            <a:avLst>
              <a:gd name="adj" fmla="val 1111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635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365760" y="566928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~5 500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365760" y="618134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lignes de code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560320" y="5650992"/>
            <a:ext cx="2011680" cy="987552"/>
          </a:xfrm>
          <a:prstGeom prst="roundRect">
            <a:avLst>
              <a:gd name="adj" fmla="val 1111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635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5" name="Text 43"/>
          <p:cNvSpPr/>
          <p:nvPr/>
        </p:nvSpPr>
        <p:spPr>
          <a:xfrm>
            <a:off x="2560320" y="566928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2560320" y="618134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Supabase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754880" y="5650992"/>
            <a:ext cx="2011680" cy="987552"/>
          </a:xfrm>
          <a:prstGeom prst="roundRect">
            <a:avLst>
              <a:gd name="adj" fmla="val 1111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635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8" name="Text 46"/>
          <p:cNvSpPr/>
          <p:nvPr/>
        </p:nvSpPr>
        <p:spPr>
          <a:xfrm>
            <a:off x="4754880" y="566928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0 €/mois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4754880" y="618134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hebergement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949440" y="5650992"/>
            <a:ext cx="2011680" cy="987552"/>
          </a:xfrm>
          <a:prstGeom prst="roundRect">
            <a:avLst>
              <a:gd name="adj" fmla="val 1111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635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1" name="Text 49"/>
          <p:cNvSpPr/>
          <p:nvPr/>
        </p:nvSpPr>
        <p:spPr>
          <a:xfrm>
            <a:off x="6949440" y="566928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100 %</a:t>
            </a:r>
            <a:endParaRPr lang="en-US" sz="2200" dirty="0"/>
          </a:p>
        </p:txBody>
      </p:sp>
      <p:sp>
        <p:nvSpPr>
          <p:cNvPr id="52" name="Text 50"/>
          <p:cNvSpPr/>
          <p:nvPr/>
        </p:nvSpPr>
        <p:spPr>
          <a:xfrm>
            <a:off x="6949440" y="618134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disponibilite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76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1371600"/>
            <a:ext cx="4572000" cy="4572000"/>
          </a:xfrm>
          <a:prstGeom prst="ellipse">
            <a:avLst/>
          </a:prstGeom>
          <a:solidFill>
            <a:srgbClr val="0D9488">
              <a:alpha val="35000"/>
            </a:srgbClr>
          </a:solidFill>
          <a:ln w="12700">
            <a:solidFill>
              <a:srgbClr val="0D948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858000" y="4114800"/>
            <a:ext cx="3657600" cy="3657600"/>
          </a:xfrm>
          <a:prstGeom prst="ellipse">
            <a:avLst/>
          </a:prstGeom>
          <a:solidFill>
            <a:srgbClr val="14B8A6">
              <a:alpha val="25000"/>
            </a:srgbClr>
          </a:solidFill>
          <a:ln w="12700">
            <a:solidFill>
              <a:srgbClr val="14B8A6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3657600" y="457200"/>
            <a:ext cx="1828800" cy="1828800"/>
          </a:xfrm>
          <a:prstGeom prst="ellipse">
            <a:avLst/>
          </a:prstGeom>
          <a:solidFill>
            <a:srgbClr val="14B8A6">
              <a:alpha val="70000"/>
            </a:srgbClr>
          </a:solidFill>
          <a:ln w="12700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3657600" y="45720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🐾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0" y="2450592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kern="0" spc="12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AMIVET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0" y="288036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</a:t>
            </a:r>
            <a:endParaRPr lang="en-US" sz="6800" dirty="0"/>
          </a:p>
        </p:txBody>
      </p:sp>
      <p:sp>
        <p:nvSpPr>
          <p:cNvPr id="8" name="Shape 6"/>
          <p:cNvSpPr/>
          <p:nvPr/>
        </p:nvSpPr>
        <p:spPr>
          <a:xfrm>
            <a:off x="5486400" y="3337560"/>
            <a:ext cx="658368" cy="402336"/>
          </a:xfrm>
          <a:prstGeom prst="roundRect">
            <a:avLst>
              <a:gd name="adj" fmla="val 1818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5486400" y="3337560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39776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 RH complete pour la Clinique Veterinaire Dr. Pelois &amp; Dr. Maquinay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709160"/>
            <a:ext cx="1828800" cy="420624"/>
          </a:xfrm>
          <a:prstGeom prst="roundRect">
            <a:avLst>
              <a:gd name="adj" fmla="val 26087"/>
            </a:avLst>
          </a:prstGeom>
          <a:solidFill>
            <a:srgbClr val="14B8A6">
              <a:alpha val="45000"/>
            </a:srgbClr>
          </a:solidFill>
          <a:ln w="12700">
            <a:solidFill>
              <a:srgbClr val="14B8A6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548640" y="470916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mensuel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60320" y="4709160"/>
            <a:ext cx="1828800" cy="420624"/>
          </a:xfrm>
          <a:prstGeom prst="roundRect">
            <a:avLst>
              <a:gd name="adj" fmla="val 26087"/>
            </a:avLst>
          </a:prstGeom>
          <a:solidFill>
            <a:srgbClr val="14B8A6">
              <a:alpha val="45000"/>
            </a:srgbClr>
          </a:solidFill>
          <a:ln w="12700">
            <a:solidFill>
              <a:srgbClr val="14B8A6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2560320" y="470916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hebdo ASV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4709160"/>
            <a:ext cx="1828800" cy="420624"/>
          </a:xfrm>
          <a:prstGeom prst="roundRect">
            <a:avLst>
              <a:gd name="adj" fmla="val 26087"/>
            </a:avLst>
          </a:prstGeom>
          <a:solidFill>
            <a:srgbClr val="14B8A6">
              <a:alpha val="45000"/>
            </a:srgbClr>
          </a:solidFill>
          <a:ln w="12700">
            <a:solidFill>
              <a:srgbClr val="14B8A6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572000" y="470916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Heures 1607h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583680" y="4709160"/>
            <a:ext cx="1828800" cy="420624"/>
          </a:xfrm>
          <a:prstGeom prst="roundRect">
            <a:avLst>
              <a:gd name="adj" fmla="val 26087"/>
            </a:avLst>
          </a:prstGeom>
          <a:solidFill>
            <a:srgbClr val="14B8A6">
              <a:alpha val="45000"/>
            </a:srgbClr>
          </a:solidFill>
          <a:ln w="12700">
            <a:solidFill>
              <a:srgbClr val="14B8A6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6583680" y="470916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5239512"/>
            <a:ext cx="1828800" cy="420624"/>
          </a:xfrm>
          <a:prstGeom prst="roundRect">
            <a:avLst>
              <a:gd name="adj" fmla="val 26087"/>
            </a:avLst>
          </a:prstGeom>
          <a:solidFill>
            <a:srgbClr val="14B8A6">
              <a:alpha val="45000"/>
            </a:srgbClr>
          </a:solidFill>
          <a:ln w="12700">
            <a:solidFill>
              <a:srgbClr val="14B8A6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548640" y="523951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560320" y="5239512"/>
            <a:ext cx="1828800" cy="420624"/>
          </a:xfrm>
          <a:prstGeom prst="roundRect">
            <a:avLst>
              <a:gd name="adj" fmla="val 26087"/>
            </a:avLst>
          </a:prstGeom>
          <a:solidFill>
            <a:srgbClr val="14B8A6">
              <a:alpha val="45000"/>
            </a:srgbClr>
          </a:solidFill>
          <a:ln w="12700">
            <a:solidFill>
              <a:srgbClr val="14B8A6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2560320" y="523951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Entretiens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0" y="5239512"/>
            <a:ext cx="1828800" cy="420624"/>
          </a:xfrm>
          <a:prstGeom prst="roundRect">
            <a:avLst>
              <a:gd name="adj" fmla="val 26087"/>
            </a:avLst>
          </a:prstGeom>
          <a:solidFill>
            <a:srgbClr val="14B8A6">
              <a:alpha val="45000"/>
            </a:srgbClr>
          </a:solidFill>
          <a:ln w="12700">
            <a:solidFill>
              <a:srgbClr val="14B8A6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4572000" y="523951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ICS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583680" y="5239512"/>
            <a:ext cx="1828800" cy="420624"/>
          </a:xfrm>
          <a:prstGeom prst="roundRect">
            <a:avLst>
              <a:gd name="adj" fmla="val 26087"/>
            </a:avLst>
          </a:prstGeom>
          <a:solidFill>
            <a:srgbClr val="14B8A6">
              <a:alpha val="45000"/>
            </a:srgbClr>
          </a:solidFill>
          <a:ln w="12700">
            <a:solidFill>
              <a:srgbClr val="14B8A6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6583680" y="523951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 auto</a:t>
            </a:r>
            <a:endParaRPr lang="en-US" sz="1100" dirty="0"/>
          </a:p>
        </p:txBody>
      </p:sp>
      <p:pic>
        <p:nvPicPr>
          <p:cNvPr id="27" name="Image 26">
            <a:extLst>
              <a:ext uri="{FF2B5EF4-FFF2-40B4-BE49-F238E27FC236}">
                <a16:creationId xmlns:a16="http://schemas.microsoft.com/office/drawing/2014/main" id="{97BAE8AB-9791-706A-64F6-C2E5696EFF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1" y="293369"/>
            <a:ext cx="683552" cy="73029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1366</Words>
  <Application>Microsoft Macintosh PowerPoint</Application>
  <PresentationFormat>Affichage à l'écran (4:3)</PresentationFormat>
  <Paragraphs>463</Paragraphs>
  <Slides>14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Courier New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Amivet Pulse RH</dc:title>
  <dc:subject>PptxGenJS Presentation</dc:subject>
  <dc:creator>Clinique Vétérinaire — Dr. Pelois &amp; Dr. Maquinay</dc:creator>
  <cp:lastModifiedBy>Jérémie PIVOT</cp:lastModifiedBy>
  <cp:revision>2</cp:revision>
  <dcterms:created xsi:type="dcterms:W3CDTF">2026-07-04T15:24:28Z</dcterms:created>
  <dcterms:modified xsi:type="dcterms:W3CDTF">2026-07-04T17:41:15Z</dcterms:modified>
</cp:coreProperties>
</file>